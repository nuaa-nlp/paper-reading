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1" r:id="rId9"/>
    <p:sldId id="265" r:id="rId10"/>
    <p:sldId id="266" r:id="rId11"/>
    <p:sldId id="267" r:id="rId12"/>
    <p:sldId id="271" r:id="rId13"/>
    <p:sldId id="284" r:id="rId14"/>
    <p:sldId id="268" r:id="rId15"/>
    <p:sldId id="269" r:id="rId16"/>
    <p:sldId id="270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3" r:id="rId25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96" d="100"/>
          <a:sy n="96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今天汇报两篇材料科学智能体论文，分别是MASTER和MatBrain。两篇论文都关注多个agent如何协作，但研究重点不同。MASTER研究同一个基础模型采用不同决策架构时，能否更高效地找到符合要求的材料。MatBrain则将领域分析与工具执行分别训练，通过两个模型的协作完成材料任务。</a:t>
            </a:r>
          </a:p>
          <a:p>
            <a:endParaRPr/>
          </a:p>
          <a:p>
            <a:r>
              <a:t>这次汇报主要从agent研究的角度展开，重点讨论分工如何设计、实验如何验证收益，以及这些结果能支持什么结论。下面先介绍MASTER。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STER研究的是一个受限候选空间中的搜索任务。系统面前有28个候选和一个明确的目标区间，每轮选择一个尚未测试的候选，通过评价工具获得数值。如果数值落入目标区间，任务结束；否则把结果加入历史反馈，继续选择。</a:t>
            </a:r>
          </a:p>
          <a:p>
            <a:endParaRPr/>
          </a:p>
          <a:p>
            <a:r>
              <a:t>这里评价的物理量是吸附能，用来描述分子与材料结合的强弱。DFT是计算这一数值的物理模拟方法。在实际研究中，这类计算通常比较昂贵，所以作者希望减少找到合格候选所需的评价次数。</a:t>
            </a:r>
          </a:p>
          <a:p>
            <a:endParaRPr/>
          </a:p>
          <a:p>
            <a:r>
              <a:t>架构对照实验使用预先计算好的固定性质值作为反馈，让不同方法面对相同环境。只要候选中存在合格材料，逐一检查也能找到，因此研究重点是能否利用知识和反馈，更少尝试就找到答案。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作者比较了四种决策架构。这里的架构指角色分工和信息流，四种方案中的角色都调用GPT-5，区别在于如何组织决策。</a:t>
            </a:r>
          </a:p>
          <a:p>
            <a:endParaRPr/>
          </a:p>
          <a:p>
            <a:r>
              <a:t>Single由一个选择agent读取目标、候选和历史反馈，直接选出下一候选。Peer review让两个同质agent分别提出候选和理由，再由仲裁者综合判断。</a:t>
            </a:r>
          </a:p>
          <a:p>
            <a:endParaRPr/>
          </a:p>
          <a:p>
            <a:r>
              <a:t>Triage-ranking采用两阶段分工，先由粗筛者缩小候选范围，再由细选者在候选池中比较，最终选出一个。Triage-forms则在分层流程中增加统一评价表单，再交给细选者决策。</a:t>
            </a:r>
          </a:p>
          <a:p>
            <a:endParaRPr/>
          </a:p>
          <a:p>
            <a:r>
              <a:t>这些对照分别检验同质提议、粗筛与细选的分工，以及结构化表单能否改善搜索。下面看作者怎样公平比较这些架构。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实验在两种材料环境中进行，每个环境设置四个目标区间，再组合四种架构和四档推理强度。每个具体配置独立运行100次，统计找到合格候选所需的平均迭代次数。</a:t>
            </a:r>
          </a:p>
          <a:p>
            <a:endParaRPr/>
          </a:p>
          <a:p>
            <a:r>
              <a:t>一次运行从没有历史评价记录开始，每轮测试一个候选，直到命中目标。平均迭代次数越少，说明搜索效率越高。累计成功率则反映在给定评价次数内，有多少比例的运行已经成功。</a:t>
            </a:r>
          </a:p>
          <a:p>
            <a:endParaRPr/>
          </a:p>
          <a:p>
            <a:r>
              <a:t>四档reasoning effort分别是minimal、low、medium和high，表示模型的推理强度配置。比较架构时，需要先固定环境、目标和推理强度。</a:t>
            </a:r>
          </a:p>
          <a:p>
            <a:endParaRPr/>
          </a:p>
          <a:p>
            <a:r>
              <a:t>不过，相同推理强度不意味着总计算预算相同。多角色会增加模型调用，因此论文主要验证的是外部评价次数的节约，还不能直接说明总token开销或总成本更低。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这一页固定high推理强度，比较各架构相对于Single节省了多少次评价。横轴是Single的平均次数减去当前架构的平均次数，所以正值表示改善，负值表示需要更多评价。</a:t>
            </a:r>
          </a:p>
          <a:p>
            <a:endParaRPr/>
          </a:p>
          <a:p>
            <a:r>
              <a:t>先看Peer，它的增益大约在负0.20到正0.10次之间，整体接近持平。这说明同质agent分别提议，再增加仲裁，并没有稳定改善选择。</a:t>
            </a:r>
          </a:p>
          <a:p>
            <a:endParaRPr/>
          </a:p>
          <a:p>
            <a:r>
              <a:t>Ranking在四个目标上都获得正收益，节省约0.28到2.14次评价，说明粗筛与细选在这组条件下提高了搜索效率。Forms整体略弱于Ranking，增加表单没有带来稳定的额外收益。</a:t>
            </a:r>
          </a:p>
          <a:p>
            <a:endParaRPr/>
          </a:p>
          <a:p>
            <a:r>
              <a:t>这组结果支持有针对性的任务分工。至于表单为什么没有进一步提升，可能涉及额外约束或错误的中间判断，但还需要更细的消融才能确定。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接下来，作者分析Ranking的提升究竟来自层级分工，还是来自更清楚的提示组织。实验只比较第一轮，此时没有历史评价反馈，因此可以排除不同搜索历史的影响。</a:t>
            </a:r>
          </a:p>
          <a:p>
            <a:endParaRPr/>
          </a:p>
          <a:p>
            <a:r>
              <a:t>这里比较普通Single、显式枚举并排序的Single，以及粗筛与细选的层级结构。显式枚举并排序仍然只使用一个选择agent，只是要求它先把候选列出来，分析和比较，再给出选择。排序依据模型已有知识，并不是提前获得所有候选的真实评价值。</a:t>
            </a:r>
          </a:p>
          <a:p>
            <a:endParaRPr/>
          </a:p>
          <a:p>
            <a:r>
              <a:t>结果表明，仅仅明确列举和排序候选，就已经能提高首轮成功率。层级结构在部分较低推理强度下继续提供增量，而high下的额外收益较小。</a:t>
            </a:r>
          </a:p>
          <a:p>
            <a:endParaRPr/>
          </a:p>
          <a:p>
            <a:r>
              <a:t>所以，一部分收益来自信息组织。要判断多agent分工本身贡献了多少，需要加入提示清晰、比较过程充分的强Single基线。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这一页更换到第二种材料环境，也就是M–N–C局域配位环境，继续使用28种金属、四个目标和四档推理强度，每个配置重复100次。左图是Single，右图是Ranking，每个格子表示平均评价次数，越小越好。</a:t>
            </a:r>
          </a:p>
          <a:p>
            <a:endParaRPr/>
          </a:p>
          <a:p>
            <a:r>
              <a:t>先比较high设置下的强吸附目标，Single需要2.65次，Ranking只需要1.32次，说明分层收益可以出现在另一种材料环境中。</a:t>
            </a:r>
          </a:p>
          <a:p>
            <a:endParaRPr/>
          </a:p>
          <a:p>
            <a:r>
              <a:t>但在负1.3到负1.1电子伏特的目标区间，Single需要2.42次，Ranking反而需要3.38次。这里能直接看到平均评价次数增加，但仅凭均值不能判断差异是否具有统计显著性。</a:t>
            </a:r>
          </a:p>
          <a:p>
            <a:endParaRPr/>
          </a:p>
          <a:p>
            <a:r>
              <a:t>因此，Ranking并不是始终优于Single。收益取决于环境和目标，也取决于粗筛能否保留合适的候选，不能把单个任务上的排序直接推广到所有任务。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在继续分析搜索过程之前，先区分四类基线。Single是单模型选择基线，它能够利用领域知识和历史反馈，用来衡量协作架构的增量。</a:t>
            </a:r>
          </a:p>
          <a:p>
            <a:endParaRPr/>
          </a:p>
          <a:p>
            <a:r>
              <a:t>理论随机是不放回抽样的数学参考。如果28个候选中有K个合格，图中的公式就表示前i次抽样至少命中一个合格候选的概率。合格候选越多，随机搜索通常也越容易成功。</a:t>
            </a:r>
          </a:p>
          <a:p>
            <a:endParaRPr/>
          </a:p>
          <a:p>
            <a:r>
              <a:t>Monte Carlo通过均匀随机工具决定候选，提供可控制的盲搜对照。Rogue则是提示语言模型随机选择，但模型仍可能受到训练先验或语义偏好的影响，所以不等同于真正的均匀随机。</a:t>
            </a:r>
          </a:p>
          <a:p>
            <a:endParaRPr/>
          </a:p>
          <a:p>
            <a:r>
              <a:t>Rogue的作用就是检查，让LLM随机选时，它是否仍有固定偏好，以及这种偏好会帮助还是妨碍当前目标。这能避免把模型比随机搜索更好的表现，全部解释为有效推理。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上方两张图展示累计成功率。横轴是评价次数，纵轴是截至当前轮次已经成功的运行比例。曲线越靠左上，表示用更少评价就能覆盖更多成功运行。</a:t>
            </a:r>
          </a:p>
          <a:p>
            <a:endParaRPr/>
          </a:p>
          <a:p>
            <a:r>
              <a:t>在展示的配置中，Ranking较早接近完全成功。Rogue则有明显的目标依赖性：在强吸附目标下，它的选择偏好恰好有利；换成弱吸附目标后，同样的偏好反而使它落后于工具随机。</a:t>
            </a:r>
          </a:p>
          <a:p>
            <a:endParaRPr/>
          </a:p>
          <a:p>
            <a:r>
              <a:t>这里还需要注意推理强度的差异。Single使用high，Ranking在左图使用medium、右图使用minimal，两种随机agent均使用minimal。所以这些曲线比较的是具体配置，不能把所有差异都归因于架构。</a:t>
            </a:r>
          </a:p>
          <a:p>
            <a:endParaRPr/>
          </a:p>
          <a:p>
            <a:r>
              <a:t>下方展示候选选择熵，统计不同运行中的候选选择有多分散，并以log 28归一化。Single和Ranking总体更集中，Ranking的平均熵较低。不过，集中也可能意味着反复偏向错误候选，因此必须结合成功率解释。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MASTER的证据可以分为三个层次。首先，性能对照表明，粗筛与细选的层级分工经常能减少评价次数，但不同环境和目标下也存在Single更好的反例。</a:t>
            </a:r>
          </a:p>
          <a:p>
            <a:endParaRPr/>
          </a:p>
          <a:p>
            <a:r>
              <a:t>其次，首轮消融表明，明确列举和排序候选已经贡献了部分收益，层级结构只在部分设置下继续提供增量，因此不能把全部提升归因于多个agent。</a:t>
            </a:r>
          </a:p>
          <a:p>
            <a:endParaRPr/>
          </a:p>
          <a:p>
            <a:r>
              <a:t>最后，选择熵说明搜索行为更加集中，但这种相关性还不足以证明推理更正确，也不能单独解释性能提升的原因。</a:t>
            </a:r>
          </a:p>
          <a:p>
            <a:endParaRPr/>
          </a:p>
          <a:p>
            <a:r>
              <a:t>对agent研究而言，这篇论文的启发是，分工应当改善信息组织和决策过程，并通过强单模型基线和预算控制验证收益。接下来的MatBrain进一步将分工放到模型训练层面。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MatBrain的出发点是，领域分析与工具执行存在不同的失败模式。模型可能理解材料概念，却无法生成合法的结构文件或工具参数；也可能能够调用工具，却不能正确解释返回结果。两类能力不一定同步提高。</a:t>
            </a:r>
          </a:p>
          <a:p>
            <a:endParaRPr/>
          </a:p>
          <a:p>
            <a:r>
              <a:t>作者因此分别训练两个模型：Mat-R1负责领域分析，Mat-T1负责工具执行。设计上的直觉是，领域分析需要相对稳定的知识判断，而执行需要根据工具反馈调整行动路径。</a:t>
            </a:r>
          </a:p>
          <a:p>
            <a:endParaRPr/>
          </a:p>
          <a:p>
            <a:r>
              <a:t>论文分别评估领域训练、执行训练以及双模型组合的效果，再通过输出熵分析提供行为线索。下面先看两个模型如何协作，以及它们使用怎样的工具和评测环境。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用户任务首先进入Mat-T1。它把任务意图转化为工具调用计划，执行工具，并把返回值、报错和调用历史写入共享状态。</a:t>
            </a:r>
          </a:p>
          <a:p>
            <a:endParaRPr/>
          </a:p>
          <a:p>
            <a:r>
              <a:t>随后，Mat-R1读取这些信息，判断结果是否合理、证据是否充分。如果还需要更多信息，就提出下一步研究意图，再交给Mat-T1执行；如果证据足够，就形成最终回答。Mat-R1本身不直接操作工具。</a:t>
            </a:r>
          </a:p>
          <a:p>
            <a:endParaRPr/>
          </a:p>
          <a:p>
            <a:r>
              <a:t>所以，两个模型之间存在执行、分析和再执行的反馈闭环，而不是各自回答一次后简单拼接。共享状态让后续决策能够看到已经做过什么、得到了什么结果，以及哪里发生了错误。</a:t>
            </a:r>
          </a:p>
          <a:p>
            <a:endParaRPr/>
          </a:p>
          <a:p>
            <a:r>
              <a:t>系统使用LangGraph管理状态和条件路由，默认最多进行六次迭代。这个上限用于控制流程，并不意味着到达上限时任务就一定正确完成。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这一页先介绍工具环境和评测出口。Mat-MCP把检索、结构生成和性质计算等能力封装成统一接口。Mat-T1提交工具名称与参数，接收执行结果或报错，Pydantic负责检查格式和参数类型。</a:t>
            </a:r>
          </a:p>
          <a:p>
            <a:endParaRPr/>
          </a:p>
          <a:p>
            <a:r>
              <a:t>右侧原文说明，Mat-252K被划分为250K训练问答和2K保留测试问答。页面概括了七项离散任务和三项数值评价，覆盖性质判断、结构输出和数值结果。</a:t>
            </a:r>
          </a:p>
          <a:p>
            <a:endParaRPr/>
          </a:p>
          <a:p>
            <a:r>
              <a:t>性质判断包括稳定性、金属性和磁性等分类。结构输出既检查CIF能否解析，也检查生成结构是否匹配目标。数值任务则比较系统输出与数据库参考值的一致性。</a:t>
            </a:r>
          </a:p>
          <a:p>
            <a:endParaRPr/>
          </a:p>
          <a:p>
            <a:r>
              <a:t>这些指标对应不同层面的能力。合法格式不等于正确结构，通过工具取得已知数值，也不等于独立预测未知材料性质。明确这些区别后，再看训练和结果。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Mat-R1基于Qwen3-30B-A3B，通过全参数监督微调学习材料领域分析和结构化输出。这里30B表示模型总参数量，约3B表示每个token激活的参数量。</a:t>
            </a:r>
          </a:p>
          <a:p>
            <a:endParaRPr/>
          </a:p>
          <a:p>
            <a:r>
              <a:t>训练使用250K材料问答，并结合173K科学推理轨迹，在8张H800上训练两个epoch。训练目标是学习结构、性质与解释之间的对应关系，而不是直接负责工具调用。</a:t>
            </a:r>
          </a:p>
          <a:p>
            <a:endParaRPr/>
          </a:p>
          <a:p>
            <a:r>
              <a:t>图中展示了训练流程和loss变化。loss下降说明模型对相关数据的拟合得到改善，但具体任务能力仍需要后面的独立评测验证。</a:t>
            </a:r>
          </a:p>
          <a:p>
            <a:endParaRPr/>
          </a:p>
          <a:p>
            <a:r>
              <a:t>这里也需要解释CIF。它是描述晶体结构的文本文件，记录元素、原子位置等信息。能够解析只说明格式有效，并不保证描述的结构正确。后面的评测会把这两种能力分开检查。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Mat-T1基于Qwen3-14B，采用DAPO强化学习训练工具执行策略。作者选取20K复杂查询，每个问题采样八条交互轨迹。</a:t>
            </a:r>
          </a:p>
          <a:p>
            <a:endParaRPr/>
          </a:p>
          <a:p>
            <a:r>
              <a:t>沿着图中的循环，模型先生成思考和工具调用，工具执行后返回观察结果或报错，模型再根据这些反馈决定下一步行动。训练覆盖的是多轮工作流，因此模型需要学会在调用之后继续处理结果，而不只是输出一次正确格式。</a:t>
            </a:r>
          </a:p>
          <a:p>
            <a:endParaRPr/>
          </a:p>
          <a:p>
            <a:r>
              <a:t>与Mat-R1学习示范答案不同，Mat-T1主要通过过程奖励优化行为，不要求每个任务都提供最终标准答案。这降低了对最终答案标注的依赖，但也意味着奖励设计非常关键。</a:t>
            </a:r>
          </a:p>
          <a:p>
            <a:endParaRPr/>
          </a:p>
          <a:p>
            <a:r>
              <a:t>接下来这页具体介绍，作者用哪些过程信号鼓励模型完成规范的工具交互。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论文将总奖励写成四项的加权和，分别是交互轮次、思考长度、输出格式和调用有效性，权重依次为0.10、0.30、0.25和0.35。</a:t>
            </a:r>
          </a:p>
          <a:p>
            <a:endParaRPr/>
          </a:p>
          <a:p>
            <a:r>
              <a:t>交互轮次奖励鼓励多轮工具交互，但轮次增加并不自动意味着探索更有效。思考长度采用图中的平滑饱和函数，L表示各步思考内容的平均token长度，尺度参数lambda设为500。长度增加时，奖励逐渐趋近于1。</a:t>
            </a:r>
          </a:p>
          <a:p>
            <a:endParaRPr/>
          </a:p>
          <a:p>
            <a:r>
              <a:t>输出格式奖励检查think、tool_call和answer的结构与顺序，使输出符合工作流协议。调用有效性检查工具是否存在、JSON能否解析，以及参数是否合法。</a:t>
            </a:r>
          </a:p>
          <a:p>
            <a:endParaRPr/>
          </a:p>
          <a:p>
            <a:r>
              <a:t>这些奖励主要约束流程规范和调用可执行性。更长的思考、更多的交互或合法参数，都不能直接保证最终科学结论正确。因此，过程奖励的价值仍需要通过任务结果验证。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首先看领域SFT的效果。雷达图的每个轴对应一个任务，越靠外表示得分越高。橙色是Mat-R1，灰色是未微调基座，其余是通用模型。</a:t>
            </a:r>
          </a:p>
          <a:p>
            <a:endParaRPr/>
          </a:p>
          <a:p>
            <a:r>
              <a:t>重点看两个结构相关指标。cif_syntax检查结构文件是否符合语法，sim_structure检查生成结构是否匹配目标。可以把它们类比为程序能否编译，以及程序是否实现了正确功能。</a:t>
            </a:r>
          </a:p>
          <a:p>
            <a:endParaRPr/>
          </a:p>
          <a:p>
            <a:r>
              <a:t>Mat-R1经过领域训练后，结构相关表现有所改善，说明专门的数据能够补充通用模型的不足。但结构相似性仍然较弱，说明生成合法文本还不能保证结构内容正确。</a:t>
            </a:r>
          </a:p>
          <a:p>
            <a:endParaRPr/>
          </a:p>
          <a:p>
            <a:r>
              <a:t>这组实验支持领域适配的价值，也说明为什么还需要结构生成、检索和验证工具，帮助系统完成单靠文本生成难以保证的任务。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这一组实验固定分析模型为DeepSeek-R1，比较三种配置。灰色是原始模型，斜线柱是通过ReAct接入工具，蓝色是DeepSeek-R1与Mat-T1协作。</a:t>
            </a:r>
          </a:p>
          <a:p>
            <a:endParaRPr/>
          </a:p>
          <a:p>
            <a:r>
              <a:t>每组柱子对应同一个任务，因此可以观察工具接入和执行策略训练分别带来的变化。结果显示，ReAct接工具能够改善部分任务，而训练过的Mat-T1在多项性质判断和结构任务上进一步提升。</a:t>
            </a:r>
          </a:p>
          <a:p>
            <a:endParaRPr/>
          </a:p>
          <a:p>
            <a:r>
              <a:t>这说明，提供工具说明和调用权限，不一定足以让模型掌握复杂的执行流程。对执行策略进行专门训练，可以带来额外收益。</a:t>
            </a:r>
          </a:p>
          <a:p>
            <a:endParaRPr/>
          </a:p>
          <a:p>
            <a:r>
              <a:t>不过，Mat-T1也引入了额外模型和训练资源。因此，准确的结论是它优于论文采用的ReAct配置，尚不能据此断言所有双模型系统都优于单模型agent。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接下来比较完整MatBrain、独立Mat-R1，以及通用模型与Mat-T1的组合。完整系统在多项性质判断和结构相似性任务上表现较强，支持领域分析与工具执行之间存在互补性。</a:t>
            </a:r>
          </a:p>
          <a:p>
            <a:endParaRPr/>
          </a:p>
          <a:p>
            <a:r>
              <a:t>但图中也有例外。红箭头标出两处：CIF语法任务上，独立Mat-R1的得分更高；直接带隙判断上，Gemini 2.5 Pro与Mat-T1的组合略高于MatBrain。</a:t>
            </a:r>
          </a:p>
          <a:p>
            <a:endParaRPr/>
          </a:p>
          <a:p>
            <a:r>
              <a:t>因此，组合收益需要按任务讨论，不能只报告总体提升。如果任务本来就能直接完成，额外路由和工具步骤可能引入新的出错环节。</a:t>
            </a:r>
          </a:p>
          <a:p>
            <a:endParaRPr/>
          </a:p>
          <a:p>
            <a:r>
              <a:t>不过，这只是可能的解释。具体是哪一步导致退化，还需要查看失败轨迹，并通过消融实验定位原因。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这三张散点图评价连续数值任务。横轴是Materials Project，也就是MP数据库中的参考值，纵轴是系统输出。点越接近对角线，说明输出与参考值越一致。</a:t>
            </a:r>
          </a:p>
          <a:p>
            <a:endParaRPr/>
          </a:p>
          <a:p>
            <a:r>
              <a:t>三项任务的R²分别是0.97、0.99和0.84，前两项一致性较高，第三项仍有更明显的偏差。R²衡量数值拟合程度，不能把0.97直接解释为百分之九十七的分类准确率。</a:t>
            </a:r>
          </a:p>
          <a:p>
            <a:endParaRPr/>
          </a:p>
          <a:p>
            <a:r>
              <a:t>这一实验说明，MatBrain能够通过整体工作流获得较准确的数值结果。不过，系统可以查询数据库并调用计算工具，所以结果不能直接证明语言模型独立学会了物理预测。</a:t>
            </a:r>
          </a:p>
          <a:p>
            <a:endParaRPr/>
          </a:p>
          <a:p>
            <a:r>
              <a:t>如果要验证对未知材料的泛化，还需要明确测试材料与训练数据、可检索数据是否隔离，以及每个结果具体通过什么路径获得。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作者进一步用token熵分析两个模型的输出行为。这里的熵衡量每个生成位置上，下一token的概率分布有多分散。低熵表示概率集中，高熵表示仍保留多个可能输出。</a:t>
            </a:r>
          </a:p>
          <a:p>
            <a:endParaRPr/>
          </a:p>
          <a:p>
            <a:r>
              <a:t>在展示的示例中，Mat-R1经过SFT后，平均熵从0.673降至0.483；Mat-T1经过强化学习后，从0.878升至0.974。作者将其解释为分析模型输出更集中，而执行模型保留更多行动探索的可能性。</a:t>
            </a:r>
          </a:p>
          <a:p>
            <a:endParaRPr/>
          </a:p>
          <a:p>
            <a:r>
              <a:t>这里应当分别比较两个模型各自训练前后的变化。同时，它与MASTER中的候选选择熵统计对象不同，数值不能直接比较。</a:t>
            </a:r>
          </a:p>
          <a:p>
            <a:endParaRPr/>
          </a:p>
          <a:p>
            <a:r>
              <a:t>这些结果提供了行为线索，但低熵可能意味着自信地答错，高熵也可能只是犹豫。示例轨迹还不足以独立证明双模型分工的必要性，分工效果仍主要由任务实验支持。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这两个案例展示协作闭环如何处理异常。第一个案例先检索数据库，发现没有对应结构后，再转向结构生成工具。这一步需要区分数据库中的已知记录与模型新生成的候选，后者仍需要进一步验证。</a:t>
            </a:r>
          </a:p>
          <a:p>
            <a:endParaRPr/>
          </a:p>
          <a:p>
            <a:r>
              <a:t>第二个案例涉及混合占位，也就是同一个晶体位置可能由不同元素按一定比例占据。常规表示遇到困难后，分析模型提出表示修正和后续处理方案，再由执行模型落实。</a:t>
            </a:r>
          </a:p>
          <a:p>
            <a:endParaRPr/>
          </a:p>
          <a:p>
            <a:r>
              <a:t>两个案例都展示了相似的过程：执行得到异常反馈，分析模型诊断问题，再调整方案并重新执行。共享状态让这类修正能够接续之前的工作。</a:t>
            </a:r>
          </a:p>
          <a:p>
            <a:endParaRPr/>
          </a:p>
          <a:p>
            <a:r>
              <a:t>这些案例说明流程可行，但还不能替代大样本的恢复成功率，以及相同条件下的单模型对照。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最后看一个完整应用。系统从生成的三万个结构出发，经过组成、重复、几何和稳定性等多阶段检查，最终保留38个在所用数据库中未检索到的候选。</a:t>
            </a:r>
          </a:p>
          <a:p>
            <a:endParaRPr/>
          </a:p>
          <a:p>
            <a:r>
              <a:t>这里的三万个结构只是生成候选，并不意味着它们都有效，也不意味着都是新材料。多阶段筛选的作用，就是利用不同工具逐步排除不符合要求的结构。数据库中未检索到，也需要结合数据库覆盖范围理解。</a:t>
            </a:r>
          </a:p>
          <a:p>
            <a:endParaRPr/>
          </a:p>
          <a:p>
            <a:r>
              <a:t>作者报告这一流程在48小时内完成，之后由研究者选择一个候选开展实际合成、表征和性能测试。这说明计算工作流能够连接真实实验，同时也体现了研究者在候选选择和物理验证中的作用。</a:t>
            </a:r>
          </a:p>
          <a:p>
            <a:endParaRPr/>
          </a:p>
          <a:p>
            <a:r>
              <a:t>这部分展示流程整合与自动化的价值。对于双模型架构本身的收益判断，仍应以前面的受控模块实验和组合实验为主。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最后总结两篇论文。MASTER重点研究同一个基础模型如何组织决策，通过四种架构比较、首轮消融和搜索行为分析，说明分层选择经常能提高搜索效率，但收益依赖具体任务，也受到提示组织和计算预算的影响。</a:t>
            </a:r>
          </a:p>
          <a:p>
            <a:endParaRPr/>
          </a:p>
          <a:p>
            <a:r>
              <a:t>MatBrain重点研究领域分析与工具执行如何分别学习，再通过协作完成任务。模块与组合实验支持能力互补，但还不足以证明在同等数据、工具和预算下，双模型必然优于统一模型。</a:t>
            </a:r>
          </a:p>
          <a:p>
            <a:endParaRPr/>
          </a:p>
          <a:p>
            <a:r>
              <a:t>两篇论文共同给我的启发是，设计多agent系统时，应先明确分工要解决哪一种失败，再通过强单模型基线和消融实验验证收益来源。MASTER更关注决策效率，MatBrain更关注能力专门化和执行可靠性，角色数量本身并不能保证效果。</a:t>
            </a:r>
          </a:p>
          <a:p>
            <a:endParaRPr/>
          </a:p>
          <a:p>
            <a:r>
              <a:t>我的汇报到这里，谢谢大家。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PER READING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PAPER READING</a:t>
            </a:r>
          </a:p>
        </p:txBody>
      </p:sp>
      <p:sp>
        <p:nvSpPr>
          <p:cNvPr id="2" name="MASTER 与 MatBrain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MASTER 与 MatBrain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9" name="材料研究中的两种Agent分工：决策流程与学习目标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材料研究中的两种Agent分工：决策流程与</a:t>
            </a:r>
            <a:r>
              <a:rPr lang="zh-CN"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分工协调</a:t>
            </a: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pic>
        <p:nvPicPr>
          <p:cNvPr id="12" name="图片 11" descr="截屏2026-10-12 10.46.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45" y="2134870"/>
            <a:ext cx="6064885" cy="4278630"/>
          </a:xfrm>
          <a:prstGeom prst="rect">
            <a:avLst/>
          </a:prstGeom>
        </p:spPr>
      </p:pic>
      <p:pic>
        <p:nvPicPr>
          <p:cNvPr id="13" name="图片 12" descr="截屏2026-10-12 10.46.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520" y="2917825"/>
            <a:ext cx="7969885" cy="3080385"/>
          </a:xfrm>
          <a:prstGeom prst="rect">
            <a:avLst/>
          </a:prstGeom>
        </p:spPr>
      </p:pic>
      <p:sp>
        <p:nvSpPr>
          <p:cNvPr id="4" name="MASTER 与 MatBrain"/>
          <p:cNvSpPr>
            <a:spLocks noGrp="1"/>
          </p:cNvSpPr>
          <p:nvPr/>
        </p:nvSpPr>
        <p:spPr>
          <a:xfrm>
            <a:off x="2626360" y="6518275"/>
            <a:ext cx="1938655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MASTER</a:t>
            </a:r>
          </a:p>
        </p:txBody>
      </p:sp>
      <p:sp>
        <p:nvSpPr>
          <p:cNvPr id="5" name="MASTER 与 MatBrain"/>
          <p:cNvSpPr>
            <a:spLocks noGrp="1"/>
          </p:cNvSpPr>
          <p:nvPr/>
        </p:nvSpPr>
        <p:spPr>
          <a:xfrm>
            <a:off x="10140315" y="6427470"/>
            <a:ext cx="187325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F70D6E-DCBD-BFDB-FDF7-F847D52AC7DF}"/>
              </a:ext>
            </a:extLst>
          </p:cNvPr>
          <p:cNvSpPr txBox="1"/>
          <p:nvPr/>
        </p:nvSpPr>
        <p:spPr>
          <a:xfrm>
            <a:off x="15226748" y="5791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STER  研究问题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MASTER  研究问题</a:t>
            </a:r>
          </a:p>
        </p:txBody>
      </p:sp>
      <p:sp>
        <p:nvSpPr>
          <p:cNvPr id="2" name="研究问题：决策分工能否减少找到合格材料所需的评价次数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研究问题：决策分工能否减少找到合格材料所需的评价次数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39796"/>
            <a:ext cx="6143625" cy="4969108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810500" y="1933575"/>
            <a:ext cx="6429375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6" name="28个候选 + 当前目标区间"/>
          <p:cNvSpPr>
            <a:spLocks noGrp="1"/>
          </p:cNvSpPr>
          <p:nvPr/>
        </p:nvSpPr>
        <p:spPr>
          <a:xfrm>
            <a:off x="7905750" y="1981200"/>
            <a:ext cx="6238875" cy="5334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28个候选 + 当前目标区间</a:t>
            </a:r>
          </a:p>
        </p:txBody>
      </p:sp>
      <p:sp>
        <p:nvSpPr>
          <p:cNvPr id="7" name="下箭头 6"/>
          <p:cNvSpPr>
            <a:spLocks noGrp="1"/>
          </p:cNvSpPr>
          <p:nvPr/>
        </p:nvSpPr>
        <p:spPr>
          <a:xfrm>
            <a:off x="10858500" y="2590800"/>
            <a:ext cx="228600" cy="323850"/>
          </a:xfrm>
          <a:prstGeom prst="down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0" y="2952750"/>
            <a:ext cx="6429375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9" name="选择一个未测试候选"/>
          <p:cNvSpPr>
            <a:spLocks noGrp="1"/>
          </p:cNvSpPr>
          <p:nvPr/>
        </p:nvSpPr>
        <p:spPr>
          <a:xfrm>
            <a:off x="7905750" y="3000375"/>
            <a:ext cx="6238875" cy="5334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选择一个未测试候选</a:t>
            </a:r>
          </a:p>
        </p:txBody>
      </p:sp>
      <p:sp>
        <p:nvSpPr>
          <p:cNvPr id="10" name="下箭头 9"/>
          <p:cNvSpPr>
            <a:spLocks noGrp="1"/>
          </p:cNvSpPr>
          <p:nvPr/>
        </p:nvSpPr>
        <p:spPr>
          <a:xfrm>
            <a:off x="10858500" y="3600450"/>
            <a:ext cx="228600" cy="323850"/>
          </a:xfrm>
          <a:prstGeom prst="down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0" y="3971925"/>
            <a:ext cx="6429375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评价工具返回一个数值"/>
          <p:cNvSpPr>
            <a:spLocks noGrp="1"/>
          </p:cNvSpPr>
          <p:nvPr/>
        </p:nvSpPr>
        <p:spPr>
          <a:xfrm>
            <a:off x="7905750" y="4019550"/>
            <a:ext cx="6238875" cy="5334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评价工具返回一个数值</a:t>
            </a:r>
          </a:p>
        </p:txBody>
      </p:sp>
      <p:sp>
        <p:nvSpPr>
          <p:cNvPr id="13" name="下箭头 12"/>
          <p:cNvSpPr>
            <a:spLocks noGrp="1"/>
          </p:cNvSpPr>
          <p:nvPr/>
        </p:nvSpPr>
        <p:spPr>
          <a:xfrm>
            <a:off x="10858500" y="4629150"/>
            <a:ext cx="228600" cy="323850"/>
          </a:xfrm>
          <a:prstGeom prst="down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10500" y="4991100"/>
            <a:ext cx="6429375" cy="7239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5" name="命中区间：结束  /  未命中：带反馈继续"/>
          <p:cNvSpPr>
            <a:spLocks noGrp="1"/>
          </p:cNvSpPr>
          <p:nvPr/>
        </p:nvSpPr>
        <p:spPr>
          <a:xfrm>
            <a:off x="7905750" y="5038725"/>
            <a:ext cx="6238875" cy="6286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命中区间：结束  /  未命中：带反馈继续</a:t>
            </a:r>
          </a:p>
        </p:txBody>
      </p:sp>
      <p:sp>
        <p:nvSpPr>
          <p:cNvPr id="16" name="吸附能：分子与材料结合强弱的数值。&#10;DFT：计算该数值的物理模拟方法。"/>
          <p:cNvSpPr>
            <a:spLocks noGrp="1"/>
          </p:cNvSpPr>
          <p:nvPr/>
        </p:nvSpPr>
        <p:spPr>
          <a:xfrm>
            <a:off x="7810500" y="5838825"/>
            <a:ext cx="6429375" cy="9906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吸附能：分子与材料结合强弱的数值。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DFT：计算该数值的物理模拟方法。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9" name="控制模型与任务，比较找到合格材料所需的平均评价次数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控制模型与任务，比较找到合格材料所需的平均</a:t>
            </a:r>
            <a:r>
              <a:rPr lang="zh-CN"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迭代</a:t>
            </a: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次数。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STER  架构设计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MASTER  架构设计</a:t>
            </a:r>
          </a:p>
        </p:txBody>
      </p:sp>
      <p:sp>
        <p:nvSpPr>
          <p:cNvPr id="2" name="四种平级决策架构：Single、Peer、Ranking与Forms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四种平级决策架构：Single、Peer、Ranking与Forms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4" name="架构是角色分工与信息流的组织方式，四种方案均调用同一个GPT-5。"/>
          <p:cNvSpPr>
            <a:spLocks noGrp="1"/>
          </p:cNvSpPr>
          <p:nvPr/>
        </p:nvSpPr>
        <p:spPr>
          <a:xfrm>
            <a:off x="666750" y="1543050"/>
            <a:ext cx="13811250" cy="5905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架构是角色分工与信息流的组织方式，四种方案均调用同一个GPT-5。</a:t>
            </a:r>
          </a:p>
        </p:txBody>
      </p:sp>
      <p:sp>
        <p:nvSpPr>
          <p:cNvPr id="5" name="Single"/>
          <p:cNvSpPr>
            <a:spLocks noGrp="1"/>
          </p:cNvSpPr>
          <p:nvPr/>
        </p:nvSpPr>
        <p:spPr>
          <a:xfrm>
            <a:off x="666750" y="2343150"/>
            <a:ext cx="3209925" cy="5143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Single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3162300"/>
            <a:ext cx="3114675" cy="5524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7" name="目标、候选、反馈"/>
          <p:cNvSpPr>
            <a:spLocks noGrp="1"/>
          </p:cNvSpPr>
          <p:nvPr/>
        </p:nvSpPr>
        <p:spPr>
          <a:xfrm>
            <a:off x="762000" y="3209925"/>
            <a:ext cx="2924175" cy="4572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目标、候选、反馈</a:t>
            </a:r>
          </a:p>
        </p:txBody>
      </p:sp>
      <p:sp>
        <p:nvSpPr>
          <p:cNvPr id="8" name="下箭头 7"/>
          <p:cNvSpPr>
            <a:spLocks noGrp="1"/>
          </p:cNvSpPr>
          <p:nvPr/>
        </p:nvSpPr>
        <p:spPr>
          <a:xfrm>
            <a:off x="2114550" y="3819525"/>
            <a:ext cx="238125" cy="333375"/>
          </a:xfrm>
          <a:prstGeom prst="down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4267200"/>
            <a:ext cx="3114675" cy="5524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0" name="一个GPT-5选择者"/>
          <p:cNvSpPr>
            <a:spLocks noGrp="1"/>
          </p:cNvSpPr>
          <p:nvPr/>
        </p:nvSpPr>
        <p:spPr>
          <a:xfrm>
            <a:off x="762000" y="4314825"/>
            <a:ext cx="2924175" cy="4572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GPT-5</a:t>
            </a:r>
          </a:p>
        </p:txBody>
      </p:sp>
      <p:sp>
        <p:nvSpPr>
          <p:cNvPr id="11" name="单角色决策"/>
          <p:cNvSpPr>
            <a:spLocks noGrp="1"/>
          </p:cNvSpPr>
          <p:nvPr/>
        </p:nvSpPr>
        <p:spPr>
          <a:xfrm>
            <a:off x="666750" y="5248275"/>
            <a:ext cx="3190875" cy="7048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单角色决策</a:t>
            </a:r>
          </a:p>
        </p:txBody>
      </p:sp>
      <p:sp>
        <p:nvSpPr>
          <p:cNvPr id="12" name="一个选择者读取目标、候选与历史反馈，直接选出下一候选。"/>
          <p:cNvSpPr>
            <a:spLocks noGrp="1"/>
          </p:cNvSpPr>
          <p:nvPr/>
        </p:nvSpPr>
        <p:spPr>
          <a:xfrm>
            <a:off x="666750" y="6019800"/>
            <a:ext cx="3190875" cy="1143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一个</a:t>
            </a:r>
            <a:r>
              <a:rPr lang="zh-CN"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模型</a:t>
            </a: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读取目标、候选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与历史反馈，直接选出下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一候选。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0" y="2333625"/>
            <a:ext cx="9525" cy="4686300"/>
          </a:xfrm>
          <a:prstGeom prst="rect">
            <a:avLst/>
          </a:prstGeom>
          <a:solidFill>
            <a:srgbClr val="D4E2E5"/>
          </a:solidFill>
          <a:ln w="0">
            <a:noFill/>
          </a:ln>
        </p:spPr>
      </p:sp>
      <p:sp>
        <p:nvSpPr>
          <p:cNvPr id="14" name="Peer review"/>
          <p:cNvSpPr>
            <a:spLocks noGrp="1"/>
          </p:cNvSpPr>
          <p:nvPr/>
        </p:nvSpPr>
        <p:spPr>
          <a:xfrm>
            <a:off x="4238625" y="2343150"/>
            <a:ext cx="3209925" cy="5143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Peer review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5" y="3284367"/>
            <a:ext cx="3143250" cy="1489417"/>
          </a:xfrm>
          <a:prstGeom prst="rect">
            <a:avLst/>
          </a:prstGeom>
        </p:spPr>
      </p:pic>
      <p:sp>
        <p:nvSpPr>
          <p:cNvPr id="16" name="提议与仲裁"/>
          <p:cNvSpPr>
            <a:spLocks noGrp="1"/>
          </p:cNvSpPr>
          <p:nvPr/>
        </p:nvSpPr>
        <p:spPr>
          <a:xfrm>
            <a:off x="4238625" y="5248275"/>
            <a:ext cx="3190875" cy="7048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提议与仲裁</a:t>
            </a:r>
          </a:p>
        </p:txBody>
      </p:sp>
      <p:sp>
        <p:nvSpPr>
          <p:cNvPr id="17" name="两个同质选择者分别提议，由仲裁者综合候选与理由。"/>
          <p:cNvSpPr>
            <a:spLocks noGrp="1"/>
          </p:cNvSpPr>
          <p:nvPr/>
        </p:nvSpPr>
        <p:spPr>
          <a:xfrm>
            <a:off x="4238625" y="6019800"/>
            <a:ext cx="3190875" cy="1143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两个同质</a:t>
            </a:r>
            <a:r>
              <a:rPr lang="zh-CN"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模型</a:t>
            </a: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分别提议，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由仲裁者综合候选与理由。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572375" y="2333625"/>
            <a:ext cx="9525" cy="4686300"/>
          </a:xfrm>
          <a:prstGeom prst="rect">
            <a:avLst/>
          </a:prstGeom>
          <a:solidFill>
            <a:srgbClr val="D4E2E5"/>
          </a:solidFill>
          <a:ln w="0">
            <a:noFill/>
          </a:ln>
        </p:spPr>
      </p:sp>
      <p:sp>
        <p:nvSpPr>
          <p:cNvPr id="19" name="Triage-ranking"/>
          <p:cNvSpPr>
            <a:spLocks noGrp="1"/>
          </p:cNvSpPr>
          <p:nvPr/>
        </p:nvSpPr>
        <p:spPr>
          <a:xfrm>
            <a:off x="7810500" y="2343150"/>
            <a:ext cx="3209925" cy="5143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Triage-ranking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3164681"/>
            <a:ext cx="3143250" cy="1728788"/>
          </a:xfrm>
          <a:prstGeom prst="rect">
            <a:avLst/>
          </a:prstGeom>
        </p:spPr>
      </p:pic>
      <p:sp>
        <p:nvSpPr>
          <p:cNvPr id="21" name="两阶段层级决策"/>
          <p:cNvSpPr>
            <a:spLocks noGrp="1"/>
          </p:cNvSpPr>
          <p:nvPr/>
        </p:nvSpPr>
        <p:spPr>
          <a:xfrm>
            <a:off x="7810500" y="5248275"/>
            <a:ext cx="3190875" cy="7048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两阶段层级决策</a:t>
            </a:r>
          </a:p>
        </p:txBody>
      </p:sp>
      <p:sp>
        <p:nvSpPr>
          <p:cNvPr id="22" name="粗筛者产生小候选池，细选者在池内比较并选择一个候选。"/>
          <p:cNvSpPr>
            <a:spLocks noGrp="1"/>
          </p:cNvSpPr>
          <p:nvPr/>
        </p:nvSpPr>
        <p:spPr>
          <a:xfrm>
            <a:off x="7810500" y="6019800"/>
            <a:ext cx="3190875" cy="1143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粗筛者产生小候选池，细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选者在池内比较并选择一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个候选。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144250" y="2333625"/>
            <a:ext cx="9525" cy="4686300"/>
          </a:xfrm>
          <a:prstGeom prst="rect">
            <a:avLst/>
          </a:prstGeom>
          <a:solidFill>
            <a:srgbClr val="D4E2E5"/>
          </a:solidFill>
          <a:ln w="0">
            <a:noFill/>
          </a:ln>
        </p:spPr>
      </p:sp>
      <p:sp>
        <p:nvSpPr>
          <p:cNvPr id="24" name="Triage-forms"/>
          <p:cNvSpPr>
            <a:spLocks noGrp="1"/>
          </p:cNvSpPr>
          <p:nvPr/>
        </p:nvSpPr>
        <p:spPr>
          <a:xfrm>
            <a:off x="11382375" y="2343150"/>
            <a:ext cx="3209925" cy="5143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Triage-forms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2375" y="3198783"/>
            <a:ext cx="3143250" cy="1660585"/>
          </a:xfrm>
          <a:prstGeom prst="rect">
            <a:avLst/>
          </a:prstGeom>
        </p:spPr>
      </p:pic>
      <p:sp>
        <p:nvSpPr>
          <p:cNvPr id="26" name="表单辅助的层级决策"/>
          <p:cNvSpPr>
            <a:spLocks noGrp="1"/>
          </p:cNvSpPr>
          <p:nvPr/>
        </p:nvSpPr>
        <p:spPr>
          <a:xfrm>
            <a:off x="11382375" y="5248275"/>
            <a:ext cx="3190875" cy="7048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表单辅助的层级决策</a:t>
            </a:r>
          </a:p>
        </p:txBody>
      </p:sp>
      <p:sp>
        <p:nvSpPr>
          <p:cNvPr id="27" name="粗筛后先填写统一评价表单，再由细选者做出最终选择。"/>
          <p:cNvSpPr>
            <a:spLocks noGrp="1"/>
          </p:cNvSpPr>
          <p:nvPr/>
        </p:nvSpPr>
        <p:spPr>
          <a:xfrm>
            <a:off x="11382375" y="6019800"/>
            <a:ext cx="3190875" cy="1143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粗筛后先填写统一评价表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单，再由细选者做出最终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选择。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30" name="四种架构使用同一GPT-5，仅改变角色分工与决策流程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四种架构使用同一GPT-5，仅改变角色分工与决策流程。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STER  实验设置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MASTER  实验设置</a:t>
            </a:r>
          </a:p>
        </p:txBody>
      </p:sp>
      <p:sp>
        <p:nvSpPr>
          <p:cNvPr id="2" name="统一实验配置：跨环境、目标与推理强度重复比较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统一实验配置：跨环境、目标与推理强度重复比较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4" name="实验配置按以下维度组合，每个配置独立搜索100次"/>
          <p:cNvSpPr>
            <a:spLocks noGrp="1"/>
          </p:cNvSpPr>
          <p:nvPr/>
        </p:nvSpPr>
        <p:spPr>
          <a:xfrm>
            <a:off x="666750" y="1666875"/>
            <a:ext cx="13716000" cy="5334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实验配置按以下维度组合，每个配置独立</a:t>
            </a:r>
            <a:r>
              <a:rPr lang="zh-CN"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运行</a:t>
            </a:r>
            <a:r>
              <a:rPr lang="en-US" altLang="zh-CN"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100</a:t>
            </a:r>
            <a:r>
              <a:rPr lang="zh-CN" altLang="en-US"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次</a:t>
            </a:r>
            <a:r>
              <a:rPr lang="en-US" altLang="zh-CN"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zh-CN" altLang="en-US"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计算平均迭代次数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4375" y="2457450"/>
            <a:ext cx="3219450" cy="9525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6" name="2种材料环境"/>
          <p:cNvSpPr>
            <a:spLocks noGrp="1"/>
          </p:cNvSpPr>
          <p:nvPr/>
        </p:nvSpPr>
        <p:spPr>
          <a:xfrm>
            <a:off x="809625" y="2505075"/>
            <a:ext cx="3028950" cy="8572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2种材料环境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352925" y="2457450"/>
            <a:ext cx="3219450" cy="9525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9" name="每环境4个目标"/>
          <p:cNvSpPr>
            <a:spLocks noGrp="1"/>
          </p:cNvSpPr>
          <p:nvPr/>
        </p:nvSpPr>
        <p:spPr>
          <a:xfrm>
            <a:off x="4448175" y="2505075"/>
            <a:ext cx="3028950" cy="8572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每环境4个目标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91475" y="2457450"/>
            <a:ext cx="3219450" cy="9525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4种决策架构"/>
          <p:cNvSpPr>
            <a:spLocks noGrp="1"/>
          </p:cNvSpPr>
          <p:nvPr/>
        </p:nvSpPr>
        <p:spPr>
          <a:xfrm>
            <a:off x="8086725" y="2505075"/>
            <a:ext cx="3028950" cy="8572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4种决策架构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630025" y="2457450"/>
            <a:ext cx="3219450" cy="9525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5" name="4档推理强度"/>
          <p:cNvSpPr>
            <a:spLocks noGrp="1"/>
          </p:cNvSpPr>
          <p:nvPr/>
        </p:nvSpPr>
        <p:spPr>
          <a:xfrm>
            <a:off x="11725275" y="2505075"/>
            <a:ext cx="3028950" cy="8572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4档推理强度</a:t>
            </a:r>
          </a:p>
        </p:txBody>
      </p:sp>
      <p:sp>
        <p:nvSpPr>
          <p:cNvPr id="16" name="所有配置使用GPT-5与28个候选；推理强度为minimal、low、m"/>
          <p:cNvSpPr>
            <a:spLocks noGrp="1"/>
          </p:cNvSpPr>
          <p:nvPr/>
        </p:nvSpPr>
        <p:spPr>
          <a:xfrm>
            <a:off x="714375" y="3629025"/>
            <a:ext cx="13716000" cy="6191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所有配置使用GPT-5与28个候选；推理强度为minimal、low、medium、high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081145"/>
            <a:ext cx="6012180" cy="3080385"/>
          </a:xfrm>
          <a:prstGeom prst="rect">
            <a:avLst/>
          </a:prstGeom>
        </p:spPr>
      </p:pic>
      <p:sp>
        <p:nvSpPr>
          <p:cNvPr id="18" name="平均评价次数越少，搜索越高效"/>
          <p:cNvSpPr>
            <a:spLocks noGrp="1"/>
          </p:cNvSpPr>
          <p:nvPr/>
        </p:nvSpPr>
        <p:spPr>
          <a:xfrm>
            <a:off x="7905750" y="4476750"/>
            <a:ext cx="6572250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平均</a:t>
            </a:r>
            <a:r>
              <a:rPr lang="zh-CN"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迭代</a:t>
            </a: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次数越少，搜索越高效</a:t>
            </a:r>
          </a:p>
        </p:txBody>
      </p:sp>
      <p:sp>
        <p:nvSpPr>
          <p:cNvPr id="19" name="每轮测试一个候选。统计命中目标前的平均评价次数，并用累计成功率展示整个搜"/>
          <p:cNvSpPr>
            <a:spLocks noGrp="1"/>
          </p:cNvSpPr>
          <p:nvPr/>
        </p:nvSpPr>
        <p:spPr>
          <a:xfrm>
            <a:off x="7905750" y="5238750"/>
            <a:ext cx="6572250" cy="6191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每轮测试一个候选</a:t>
            </a:r>
            <a:r>
              <a:rPr lang="en-US"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统计命中目标前的平均</a:t>
            </a:r>
            <a:r>
              <a:rPr lang="zh-CN"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迭代</a:t>
            </a: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次数，并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用累计成功率展示整个搜索过程。</a:t>
            </a:r>
          </a:p>
        </p:txBody>
      </p:sp>
      <p:sp>
        <p:nvSpPr>
          <p:cNvPr id="20" name="相同推理强度仍不保证总计算预算相同"/>
          <p:cNvSpPr>
            <a:spLocks noGrp="1"/>
          </p:cNvSpPr>
          <p:nvPr/>
        </p:nvSpPr>
        <p:spPr>
          <a:xfrm>
            <a:off x="7905750" y="5857875"/>
            <a:ext cx="6572250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相同推理强度仍不保证总计算预算相同</a:t>
            </a:r>
          </a:p>
        </p:txBody>
      </p:sp>
      <p:sp>
        <p:nvSpPr>
          <p:cNvPr id="21" name="多角色增加模型调用。论文主要验证外部评价节约，尚未验证相同总token预"/>
          <p:cNvSpPr>
            <a:spLocks noGrp="1"/>
          </p:cNvSpPr>
          <p:nvPr/>
        </p:nvSpPr>
        <p:spPr>
          <a:xfrm>
            <a:off x="7905750" y="6619875"/>
            <a:ext cx="6572250" cy="5429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多角色增加模型调用</a:t>
            </a:r>
            <a:r>
              <a:rPr lang="en-US"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论文主要验证外部评价节约，尚未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验证相同总token预算下的最优策略。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24" name="固定目标与推理强度后，再比较各架构的评价次数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固定目标与推理强度后，再比较各架构的评价次数。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STER  核心结果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MASTER  核心结果</a:t>
            </a:r>
          </a:p>
        </p:txBody>
      </p:sp>
      <p:sp>
        <p:nvSpPr>
          <p:cNvPr id="2" name="明确分工比同质提议更有效，但表单并非必需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明确分工比同质提议更有效，但表单并非必需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602670"/>
            <a:ext cx="7762875" cy="3567185"/>
          </a:xfrm>
          <a:prstGeom prst="rect">
            <a:avLst/>
          </a:prstGeom>
        </p:spPr>
      </p:pic>
      <p:sp>
        <p:nvSpPr>
          <p:cNvPr id="5" name="正值表示相对Single节省评价次数"/>
          <p:cNvSpPr>
            <a:spLocks noGrp="1"/>
          </p:cNvSpPr>
          <p:nvPr/>
        </p:nvSpPr>
        <p:spPr>
          <a:xfrm>
            <a:off x="8610600" y="16573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正值表示相对Single节省</a:t>
            </a:r>
            <a:r>
              <a:rPr lang="zh-CN"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迭代</a:t>
            </a: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次数</a:t>
            </a:r>
          </a:p>
        </p:txBody>
      </p:sp>
      <p:sp>
        <p:nvSpPr>
          <p:cNvPr id="6" name="固定high effort。横轴为Single平均次数减去当前架构平均次"/>
          <p:cNvSpPr>
            <a:spLocks noGrp="1"/>
          </p:cNvSpPr>
          <p:nvPr/>
        </p:nvSpPr>
        <p:spPr>
          <a:xfrm>
            <a:off x="8610600" y="2133600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固定high effort</a:t>
            </a:r>
            <a:r>
              <a:rPr lang="en-US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横轴为Single平均次数减去当前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架构平均次数，正值代表节省</a:t>
            </a:r>
            <a:r>
              <a:rPr lang="zh-CN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迭代次数</a:t>
            </a: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Ranking收益明显，同质Peer接近持平"/>
          <p:cNvSpPr>
            <a:spLocks noGrp="1"/>
          </p:cNvSpPr>
          <p:nvPr/>
        </p:nvSpPr>
        <p:spPr>
          <a:xfrm>
            <a:off x="8610600" y="3520059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Ranking收益明显，同质Peer接近持平</a:t>
            </a:r>
          </a:p>
        </p:txBody>
      </p:sp>
      <p:sp>
        <p:nvSpPr>
          <p:cNvPr id="8" name="Peer增益约−0.20～0.10次，基本持平；Ranking在四个目标"/>
          <p:cNvSpPr>
            <a:spLocks noGrp="1"/>
          </p:cNvSpPr>
          <p:nvPr/>
        </p:nvSpPr>
        <p:spPr>
          <a:xfrm>
            <a:off x="8610600" y="3996309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Peer增益约−0.20～0.10次，基本持平；Ranking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在四个目标上节省0.28～2.14次。</a:t>
            </a:r>
          </a:p>
        </p:txBody>
      </p:sp>
      <p:sp>
        <p:nvSpPr>
          <p:cNvPr id="9" name="增加表单未带来稳定的额外提升"/>
          <p:cNvSpPr>
            <a:spLocks noGrp="1"/>
          </p:cNvSpPr>
          <p:nvPr/>
        </p:nvSpPr>
        <p:spPr>
          <a:xfrm>
            <a:off x="8610600" y="5382768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增加表单未带来稳定的额外提升</a:t>
            </a:r>
          </a:p>
        </p:txBody>
      </p:sp>
      <p:sp>
        <p:nvSpPr>
          <p:cNvPr id="10" name="Forms整体略弱于Ranking。统一标准可能提供帮助，也可能增加约束"/>
          <p:cNvSpPr>
            <a:spLocks noGrp="1"/>
          </p:cNvSpPr>
          <p:nvPr/>
        </p:nvSpPr>
        <p:spPr>
          <a:xfrm>
            <a:off x="8610600" y="5859018"/>
            <a:ext cx="6000750" cy="1132332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Forms整体略弱于Ranking</a:t>
            </a:r>
            <a:r>
              <a:rPr lang="en-US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统一标准可能提供帮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助，也可能增加约束或错误中间判断</a:t>
            </a:r>
            <a:r>
              <a:rPr lang="en-US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粗筛与细选的分工有效，同质提议和额外表单并不保证增益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粗筛与细选的分工有效，同质提议和额外表单并不保证增益。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STER  机制分析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MASTER  机制分析</a:t>
            </a:r>
          </a:p>
        </p:txBody>
      </p:sp>
      <p:sp>
        <p:nvSpPr>
          <p:cNvPr id="2" name="首轮消融：明确比较提示已贡献收益，层级分工再提供部分增量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首轮消融：明确比较提示已贡献收益，层级分工再提供部分增量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19" y="1695450"/>
            <a:ext cx="5562737" cy="5381625"/>
          </a:xfrm>
          <a:prstGeom prst="rect">
            <a:avLst/>
          </a:prstGeom>
        </p:spPr>
      </p:pic>
      <p:sp>
        <p:nvSpPr>
          <p:cNvPr id="5" name="仅比较首轮，排除历史反馈差异"/>
          <p:cNvSpPr>
            <a:spLocks noGrp="1"/>
          </p:cNvSpPr>
          <p:nvPr/>
        </p:nvSpPr>
        <p:spPr>
          <a:xfrm>
            <a:off x="8610600" y="16573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仅比较首轮，排除历史反馈差异</a:t>
            </a:r>
          </a:p>
        </p:txBody>
      </p:sp>
      <p:sp>
        <p:nvSpPr>
          <p:cNvPr id="6" name="只看第一轮，排除历史反馈差异。对比普通Single、显式枚举并排序的Si"/>
          <p:cNvSpPr>
            <a:spLocks noGrp="1"/>
          </p:cNvSpPr>
          <p:nvPr/>
        </p:nvSpPr>
        <p:spPr>
          <a:xfrm>
            <a:off x="8610600" y="2133600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只看第一轮，排除历史反馈差异。对比普通Single、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显式枚举并排序的Single、粗筛细选层级结构。</a:t>
            </a:r>
          </a:p>
        </p:txBody>
      </p:sp>
      <p:sp>
        <p:nvSpPr>
          <p:cNvPr id="7" name="枚举与排序本身提高首轮成功率"/>
          <p:cNvSpPr>
            <a:spLocks noGrp="1"/>
          </p:cNvSpPr>
          <p:nvPr/>
        </p:nvSpPr>
        <p:spPr>
          <a:xfrm>
            <a:off x="8610600" y="3696081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枚举与排序本身提高首轮成功率</a:t>
            </a:r>
          </a:p>
        </p:txBody>
      </p:sp>
      <p:sp>
        <p:nvSpPr>
          <p:cNvPr id="8" name="枚举和排序本身已有收益。层级在部分较低effort配置下继续改善，hig"/>
          <p:cNvSpPr>
            <a:spLocks noGrp="1"/>
          </p:cNvSpPr>
          <p:nvPr/>
        </p:nvSpPr>
        <p:spPr>
          <a:xfrm>
            <a:off x="8610600" y="4172331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枚举和排序本身已有收益。层级在部分较低effort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配置下继续改善，high下额外收益较小。</a:t>
            </a:r>
          </a:p>
        </p:txBody>
      </p:sp>
      <p:sp>
        <p:nvSpPr>
          <p:cNvPr id="9" name="清晰提示的Single是必要的强基线"/>
          <p:cNvSpPr>
            <a:spLocks noGrp="1"/>
          </p:cNvSpPr>
          <p:nvPr/>
        </p:nvSpPr>
        <p:spPr>
          <a:xfrm>
            <a:off x="8610600" y="5734812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清晰提示的Single是必要的强基线</a:t>
            </a:r>
          </a:p>
        </p:txBody>
      </p:sp>
      <p:sp>
        <p:nvSpPr>
          <p:cNvPr id="10" name="一部分收益来自上下文组织。强Single能否通过更清晰的提示达到类似效果"/>
          <p:cNvSpPr>
            <a:spLocks noGrp="1"/>
          </p:cNvSpPr>
          <p:nvPr/>
        </p:nvSpPr>
        <p:spPr>
          <a:xfrm>
            <a:off x="8610600" y="6211062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一部分收益来自上下文组织</a:t>
            </a:r>
            <a:r>
              <a:rPr lang="en-US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强Single能否通过更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清晰的提示达到类似效果，应作为重要对照。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清晰提示已贡献部分收益，层级分工的增量需要单独验证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清晰提示已贡献部分收益，层级分工的增量需要单独验证。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STER  架构实验与分析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MASTER  架构实验与分析</a:t>
            </a:r>
          </a:p>
        </p:txBody>
      </p:sp>
      <p:sp>
        <p:nvSpPr>
          <p:cNvPr id="2" name="第二环境：Ranking在强吸附目标占优，但另一个目标明显退化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环境</a:t>
            </a:r>
            <a:r>
              <a:rPr lang="zh-CN"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二</a:t>
            </a: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：Ranking在强吸附目标占优，但另一个目标明显退化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5" name="粗筛细选与表单辅助继续跨四档强度测试"/>
          <p:cNvSpPr>
            <a:spLocks noGrp="1"/>
          </p:cNvSpPr>
          <p:nvPr/>
        </p:nvSpPr>
        <p:spPr>
          <a:xfrm>
            <a:off x="8610600" y="16573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粗筛细选与表单辅助继续跨四档强度测试</a:t>
            </a:r>
          </a:p>
        </p:txBody>
      </p:sp>
      <p:sp>
        <p:nvSpPr>
          <p:cNvPr id="6" name="更换为M–N–C局域配位环境，仍使用28种金属、4个目标、4档effor"/>
          <p:cNvSpPr>
            <a:spLocks noGrp="1"/>
          </p:cNvSpPr>
          <p:nvPr/>
        </p:nvSpPr>
        <p:spPr>
          <a:xfrm>
            <a:off x="8610600" y="2133600"/>
            <a:ext cx="6000750" cy="1132332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更换为M–N–C局域配位环境，仍使用28种金属、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4个目标、4档effort和100次重复。图左为</a:t>
            </a:r>
            <a:r>
              <a:rPr lang="en-US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Single</a:t>
            </a: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右为</a:t>
            </a:r>
            <a:r>
              <a:rPr lang="en-US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Ranking</a:t>
            </a: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强吸附目标：评价次数从2.65降至1.32"/>
          <p:cNvSpPr>
            <a:spLocks noGrp="1"/>
          </p:cNvSpPr>
          <p:nvPr/>
        </p:nvSpPr>
        <p:spPr>
          <a:xfrm>
            <a:off x="8610600" y="3520059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强吸附目标：评价次数从2.65降至1.32</a:t>
            </a:r>
          </a:p>
        </p:txBody>
      </p:sp>
      <p:sp>
        <p:nvSpPr>
          <p:cNvPr id="8" name="High的强吸附目标中，Ranking为1.32次，优于Single的2"/>
          <p:cNvSpPr>
            <a:spLocks noGrp="1"/>
          </p:cNvSpPr>
          <p:nvPr/>
        </p:nvSpPr>
        <p:spPr>
          <a:xfrm>
            <a:off x="8610600" y="3996309"/>
            <a:ext cx="6000750" cy="1132332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High的强吸附目标中，Ranking为1.32次，优于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Single的2.65次。说明分层收益不只出现在Cu(100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)体系。</a:t>
            </a:r>
          </a:p>
        </p:txBody>
      </p:sp>
      <p:sp>
        <p:nvSpPr>
          <p:cNvPr id="9" name="目标−1.3～−1.1：评价次数从2.42升至3.38"/>
          <p:cNvSpPr>
            <a:spLocks noGrp="1"/>
          </p:cNvSpPr>
          <p:nvPr/>
        </p:nvSpPr>
        <p:spPr>
          <a:xfrm>
            <a:off x="8610600" y="5382768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目标−1.3～−1.1：评价次数从2.42升至3.38</a:t>
            </a:r>
          </a:p>
        </p:txBody>
      </p:sp>
      <p:sp>
        <p:nvSpPr>
          <p:cNvPr id="10" name="High的−1.3～−1.1 eV目标中，Ranking为3.38次，差"/>
          <p:cNvSpPr>
            <a:spLocks noGrp="1"/>
          </p:cNvSpPr>
          <p:nvPr/>
        </p:nvSpPr>
        <p:spPr>
          <a:xfrm>
            <a:off x="8610600" y="5859018"/>
            <a:ext cx="6000750" cy="1132332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High的−1.3～−1.1 eV目标中，Ranking为3.38次，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差于Single的2.42次。更高effort也未对第二体系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的所有目标带来改善。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架构收益依赖环境与目标，不能直接推广单一任务的排序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架构收益依赖环境与目标，不能直接推广单一任务的排序。</a:t>
            </a:r>
          </a:p>
        </p:txBody>
      </p:sp>
      <p:pic>
        <p:nvPicPr>
          <p:cNvPr id="14" name="图片 13" descr="截屏2026-10-13 09.39.34"/>
          <p:cNvPicPr>
            <a:picLocks noChangeAspect="1"/>
          </p:cNvPicPr>
          <p:nvPr/>
        </p:nvPicPr>
        <p:blipFill>
          <a:blip r:embed="rId3"/>
          <a:srcRect r="53931" b="58043"/>
          <a:stretch>
            <a:fillRect/>
          </a:stretch>
        </p:blipFill>
        <p:spPr>
          <a:xfrm>
            <a:off x="130810" y="2021840"/>
            <a:ext cx="4400550" cy="4400550"/>
          </a:xfrm>
          <a:prstGeom prst="rect">
            <a:avLst/>
          </a:prstGeom>
        </p:spPr>
      </p:pic>
      <p:pic>
        <p:nvPicPr>
          <p:cNvPr id="16" name="图片 15" descr="截屏2026-10-13 09.39.34"/>
          <p:cNvPicPr>
            <a:picLocks noChangeAspect="1"/>
          </p:cNvPicPr>
          <p:nvPr/>
        </p:nvPicPr>
        <p:blipFill>
          <a:blip r:embed="rId3"/>
          <a:srcRect t="46210" r="56595" b="7973"/>
          <a:stretch>
            <a:fillRect/>
          </a:stretch>
        </p:blipFill>
        <p:spPr>
          <a:xfrm>
            <a:off x="4235450" y="2004695"/>
            <a:ext cx="4232275" cy="4905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MASTER  架构实验与分析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MASTER  架构实验与分析</a:t>
            </a:r>
          </a:p>
        </p:txBody>
      </p:sp>
      <p:sp>
        <p:nvSpPr>
          <p:cNvPr id="2" name="四类基线区分单模型能力、均匀随机与模型选择偏好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四类基线区分单模型能力、均匀随机与模型选择偏好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4" name="Single：单模型基线"/>
          <p:cNvSpPr>
            <a:spLocks noGrp="1"/>
          </p:cNvSpPr>
          <p:nvPr/>
        </p:nvSpPr>
        <p:spPr>
          <a:xfrm>
            <a:off x="666750" y="1619250"/>
            <a:ext cx="4476750" cy="4667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Single：单模型基线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0" y="161925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6" name="目标 + 反馈"/>
          <p:cNvSpPr>
            <a:spLocks noGrp="1"/>
          </p:cNvSpPr>
          <p:nvPr/>
        </p:nvSpPr>
        <p:spPr>
          <a:xfrm>
            <a:off x="5429250" y="166687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目标 + 反馈</a:t>
            </a:r>
          </a:p>
        </p:txBody>
      </p:sp>
      <p:sp>
        <p:nvSpPr>
          <p:cNvPr id="7" name="右箭头 6"/>
          <p:cNvSpPr>
            <a:spLocks noGrp="1"/>
          </p:cNvSpPr>
          <p:nvPr/>
        </p:nvSpPr>
        <p:spPr>
          <a:xfrm>
            <a:off x="8086725" y="1809750"/>
            <a:ext cx="295275" cy="190500"/>
          </a:xfrm>
          <a:prstGeom prst="right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29625" y="161925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9" name="单个选择者"/>
          <p:cNvSpPr>
            <a:spLocks noGrp="1"/>
          </p:cNvSpPr>
          <p:nvPr/>
        </p:nvSpPr>
        <p:spPr>
          <a:xfrm>
            <a:off x="8524875" y="166687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单个选择者</a:t>
            </a: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11182350" y="1809750"/>
            <a:ext cx="295275" cy="190500"/>
          </a:xfrm>
          <a:prstGeom prst="right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525250" y="161925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候选"/>
          <p:cNvSpPr>
            <a:spLocks noGrp="1"/>
          </p:cNvSpPr>
          <p:nvPr/>
        </p:nvSpPr>
        <p:spPr>
          <a:xfrm>
            <a:off x="11620500" y="166687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候选</a:t>
            </a:r>
          </a:p>
        </p:txBody>
      </p:sp>
      <p:sp>
        <p:nvSpPr>
          <p:cNvPr id="13" name="检验协作是否超过已有知识与反馈的单个模型。"/>
          <p:cNvSpPr>
            <a:spLocks noGrp="1"/>
          </p:cNvSpPr>
          <p:nvPr/>
        </p:nvSpPr>
        <p:spPr>
          <a:xfrm>
            <a:off x="666750" y="2286000"/>
            <a:ext cx="13811250" cy="5429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检验协作是否超过已有知识与反馈的单个模型。</a:t>
            </a:r>
          </a:p>
        </p:txBody>
      </p:sp>
      <p:sp>
        <p:nvSpPr>
          <p:cNvPr id="14" name="理论随机：数学基线"/>
          <p:cNvSpPr>
            <a:spLocks noGrp="1"/>
          </p:cNvSpPr>
          <p:nvPr/>
        </p:nvSpPr>
        <p:spPr>
          <a:xfrm>
            <a:off x="666750" y="2971800"/>
            <a:ext cx="4476750" cy="4667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理论随机：数学基线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34000" y="297180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6" name="28个候选、K个合格"/>
          <p:cNvSpPr>
            <a:spLocks noGrp="1"/>
          </p:cNvSpPr>
          <p:nvPr/>
        </p:nvSpPr>
        <p:spPr>
          <a:xfrm>
            <a:off x="5429250" y="301942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28个候选、K个合格</a:t>
            </a: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8086725" y="3162300"/>
            <a:ext cx="295275" cy="190500"/>
          </a:xfrm>
          <a:prstGeom prst="right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29625" y="297180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9" name="不放回抽样"/>
          <p:cNvSpPr>
            <a:spLocks noGrp="1"/>
          </p:cNvSpPr>
          <p:nvPr/>
        </p:nvSpPr>
        <p:spPr>
          <a:xfrm>
            <a:off x="8524875" y="301942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不放回抽样</a:t>
            </a: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11182350" y="3162300"/>
            <a:ext cx="295275" cy="190500"/>
          </a:xfrm>
          <a:prstGeom prst="right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525250" y="297180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2" name="累计命中概率"/>
          <p:cNvSpPr>
            <a:spLocks noGrp="1"/>
          </p:cNvSpPr>
          <p:nvPr/>
        </p:nvSpPr>
        <p:spPr>
          <a:xfrm>
            <a:off x="11620500" y="301942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累计命中概率</a:t>
            </a:r>
          </a:p>
        </p:txBody>
      </p:sp>
      <p:sp>
        <p:nvSpPr>
          <p:cNvPr id="23" name="作为无方向搜索的理论参考：1−C(28−K,i)/C(28,i)。"/>
          <p:cNvSpPr>
            <a:spLocks noGrp="1"/>
          </p:cNvSpPr>
          <p:nvPr/>
        </p:nvSpPr>
        <p:spPr>
          <a:xfrm>
            <a:off x="666750" y="3638550"/>
            <a:ext cx="13811250" cy="5429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作为无方向搜索的理论参考：1−C(28−K,i)/C(28,i)。</a:t>
            </a:r>
          </a:p>
        </p:txBody>
      </p:sp>
      <p:sp>
        <p:nvSpPr>
          <p:cNvPr id="24" name="Monte Carlo：工具随机"/>
          <p:cNvSpPr>
            <a:spLocks noGrp="1"/>
          </p:cNvSpPr>
          <p:nvPr/>
        </p:nvSpPr>
        <p:spPr>
          <a:xfrm>
            <a:off x="666750" y="4324350"/>
            <a:ext cx="4476750" cy="4667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Monte Carlo：工具随机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0" y="432435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6" name="随机数工具"/>
          <p:cNvSpPr>
            <a:spLocks noGrp="1"/>
          </p:cNvSpPr>
          <p:nvPr/>
        </p:nvSpPr>
        <p:spPr>
          <a:xfrm>
            <a:off x="5429250" y="437197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随机数工具</a:t>
            </a: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8086725" y="4514850"/>
            <a:ext cx="295275" cy="190500"/>
          </a:xfrm>
          <a:prstGeom prst="right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429625" y="432435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9" name="按工具结果选择"/>
          <p:cNvSpPr>
            <a:spLocks noGrp="1"/>
          </p:cNvSpPr>
          <p:nvPr/>
        </p:nvSpPr>
        <p:spPr>
          <a:xfrm>
            <a:off x="8524875" y="437197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按工具结果选择</a:t>
            </a: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11182350" y="4514850"/>
            <a:ext cx="295275" cy="190500"/>
          </a:xfrm>
          <a:prstGeom prst="right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1525250" y="432435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32" name="候选"/>
          <p:cNvSpPr>
            <a:spLocks noGrp="1"/>
          </p:cNvSpPr>
          <p:nvPr/>
        </p:nvSpPr>
        <p:spPr>
          <a:xfrm>
            <a:off x="11620500" y="437197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候选</a:t>
            </a:r>
          </a:p>
        </p:txBody>
      </p:sp>
      <p:sp>
        <p:nvSpPr>
          <p:cNvPr id="33" name="由均匀随机工具决定候选，提供可控制的盲搜对照。"/>
          <p:cNvSpPr>
            <a:spLocks noGrp="1"/>
          </p:cNvSpPr>
          <p:nvPr/>
        </p:nvSpPr>
        <p:spPr>
          <a:xfrm>
            <a:off x="666750" y="4991100"/>
            <a:ext cx="13811250" cy="5429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由均匀随机工具决定候选，提供可控制的盲搜对照。</a:t>
            </a:r>
          </a:p>
        </p:txBody>
      </p:sp>
      <p:sp>
        <p:nvSpPr>
          <p:cNvPr id="34" name="Rogue：模型“随机”"/>
          <p:cNvSpPr>
            <a:spLocks noGrp="1"/>
          </p:cNvSpPr>
          <p:nvPr/>
        </p:nvSpPr>
        <p:spPr>
          <a:xfrm>
            <a:off x="666750" y="5676900"/>
            <a:ext cx="4476750" cy="4667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Rogue：模型“随机”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334000" y="567690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36" name="随机选择的提示"/>
          <p:cNvSpPr>
            <a:spLocks noGrp="1"/>
          </p:cNvSpPr>
          <p:nvPr/>
        </p:nvSpPr>
        <p:spPr>
          <a:xfrm>
            <a:off x="5429250" y="572452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随机选择的提示</a:t>
            </a:r>
          </a:p>
        </p:txBody>
      </p:sp>
      <p:sp>
        <p:nvSpPr>
          <p:cNvPr id="37" name="右箭头 36"/>
          <p:cNvSpPr>
            <a:spLocks noGrp="1"/>
          </p:cNvSpPr>
          <p:nvPr/>
        </p:nvSpPr>
        <p:spPr>
          <a:xfrm>
            <a:off x="8086725" y="5867400"/>
            <a:ext cx="295275" cy="190500"/>
          </a:xfrm>
          <a:prstGeom prst="right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429625" y="567690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39" name="LLM直接选择"/>
          <p:cNvSpPr>
            <a:spLocks noGrp="1"/>
          </p:cNvSpPr>
          <p:nvPr/>
        </p:nvSpPr>
        <p:spPr>
          <a:xfrm>
            <a:off x="8524875" y="572452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LLM直接选择</a:t>
            </a:r>
          </a:p>
        </p:txBody>
      </p:sp>
      <p:sp>
        <p:nvSpPr>
          <p:cNvPr id="40" name="右箭头 39"/>
          <p:cNvSpPr>
            <a:spLocks noGrp="1"/>
          </p:cNvSpPr>
          <p:nvPr/>
        </p:nvSpPr>
        <p:spPr>
          <a:xfrm>
            <a:off x="11182350" y="5867400"/>
            <a:ext cx="295275" cy="190500"/>
          </a:xfrm>
          <a:prstGeom prst="rightArrow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1525250" y="5676900"/>
            <a:ext cx="2714625" cy="581025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42" name="候选"/>
          <p:cNvSpPr>
            <a:spLocks noGrp="1"/>
          </p:cNvSpPr>
          <p:nvPr/>
        </p:nvSpPr>
        <p:spPr>
          <a:xfrm>
            <a:off x="11620500" y="5724525"/>
            <a:ext cx="2524125" cy="4857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候选</a:t>
            </a:r>
          </a:p>
        </p:txBody>
      </p:sp>
      <p:sp>
        <p:nvSpPr>
          <p:cNvPr id="43" name="检测模型是否仍残留语义偏好，不能视作均匀随机。"/>
          <p:cNvSpPr>
            <a:spLocks noGrp="1"/>
          </p:cNvSpPr>
          <p:nvPr/>
        </p:nvSpPr>
        <p:spPr>
          <a:xfrm>
            <a:off x="666750" y="6343650"/>
            <a:ext cx="13811250" cy="5429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检测模型是否仍残留语义偏好，不能视作均匀随机。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46" name="均匀随机工具与LLM随机选择是两种不同的基线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均匀随机工具与LLM随机选择是两种不同的基线。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STER  架构实验与分析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MASTER  架构实验与分析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90" y="4376420"/>
            <a:ext cx="6840220" cy="305308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选择熵衡量搜索集中度，需结合成功率判断效果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选择熵衡量搜索集中度，需结合成功率判断效果。</a:t>
            </a:r>
          </a:p>
        </p:txBody>
      </p:sp>
      <p:pic>
        <p:nvPicPr>
          <p:cNvPr id="14" name="图片 13" descr="截屏2026-10-12 15.06.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90" y="1477645"/>
            <a:ext cx="6402070" cy="2898775"/>
          </a:xfrm>
          <a:prstGeom prst="rect">
            <a:avLst/>
          </a:prstGeom>
        </p:spPr>
      </p:pic>
      <p:sp>
        <p:nvSpPr>
          <p:cNvPr id="302" name="矩形 301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300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300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累计成功率与选择熵：分层搜索更快命中，也更集中</a:t>
            </a:r>
          </a:p>
        </p:txBody>
      </p:sp>
      <p:sp>
        <p:nvSpPr>
          <p:cNvPr id="303" name="矩形 302"/>
          <p:cNvSpPr>
            <a:spLocks noGrp="1"/>
          </p:cNvSpPr>
          <p:nvPr/>
        </p:nvSpPr>
        <p:spPr>
          <a:xfrm>
            <a:off x="8382000" y="1638300"/>
            <a:ext cx="6267450" cy="4476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Ranking更早达到较高累计成功率</a:t>
            </a:r>
          </a:p>
        </p:txBody>
      </p:sp>
      <p:sp>
        <p:nvSpPr>
          <p:cNvPr id="304" name="矩形 303"/>
          <p:cNvSpPr>
            <a:spLocks noGrp="1"/>
          </p:cNvSpPr>
          <p:nvPr/>
        </p:nvSpPr>
        <p:spPr>
          <a:xfrm>
            <a:off x="8382000" y="2171700"/>
            <a:ext cx="6267450" cy="11239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上方两图中，Ranking曲线更快接近100%，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以更少评价覆盖更多成功运行。Rogue在强吸附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目标较快，在弱吸附目标却落后于工具随机。</a:t>
            </a:r>
          </a:p>
        </p:txBody>
      </p:sp>
      <p:sp>
        <p:nvSpPr>
          <p:cNvPr id="305" name="矩形 304"/>
          <p:cNvSpPr>
            <a:spLocks noGrp="1"/>
          </p:cNvSpPr>
          <p:nvPr/>
        </p:nvSpPr>
        <p:spPr>
          <a:xfrm>
            <a:off x="8382000" y="3476625"/>
            <a:ext cx="6267450" cy="4476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不同effort配置限制纯架构归因</a:t>
            </a:r>
          </a:p>
        </p:txBody>
      </p:sp>
      <p:sp>
        <p:nvSpPr>
          <p:cNvPr id="306" name="矩形 305"/>
          <p:cNvSpPr>
            <a:spLocks noGrp="1"/>
          </p:cNvSpPr>
          <p:nvPr/>
        </p:nvSpPr>
        <p:spPr>
          <a:xfrm>
            <a:off x="8382000" y="4010025"/>
            <a:ext cx="6267450" cy="11239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Single为high；Ranking在左图为medium、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右图为minimal；两种随机agent均为minimal。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曲线支持所示配置的效率差异，并非等预算对照。</a:t>
            </a:r>
          </a:p>
        </p:txBody>
      </p:sp>
      <p:sp>
        <p:nvSpPr>
          <p:cNvPr id="307" name="矩形 306"/>
          <p:cNvSpPr>
            <a:spLocks noGrp="1"/>
          </p:cNvSpPr>
          <p:nvPr/>
        </p:nvSpPr>
        <p:spPr>
          <a:xfrm>
            <a:off x="8382000" y="5314950"/>
            <a:ext cx="6267450" cy="4476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更低的选择熵表明搜索更集中</a:t>
            </a:r>
          </a:p>
        </p:txBody>
      </p:sp>
      <p:sp>
        <p:nvSpPr>
          <p:cNvPr id="308" name="矩形 307"/>
          <p:cNvSpPr>
            <a:spLocks noGrp="1"/>
          </p:cNvSpPr>
          <p:nvPr/>
        </p:nvSpPr>
        <p:spPr>
          <a:xfrm>
            <a:off x="8382000" y="5848350"/>
            <a:ext cx="6267450" cy="11239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下方统计跨运行的候选选择分布，并以log 28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归一化。Single与Ranking较集中，Ranking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平均熵较低；低熵本身不保证选择正确。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STER  架构实验与分析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MASTER  架构实验与分析</a:t>
            </a:r>
          </a:p>
        </p:txBody>
      </p:sp>
      <p:sp>
        <p:nvSpPr>
          <p:cNvPr id="2" name="证据总结：层级分工常有收益，提示组织与预算仍需控制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证据总结：层级分工常有收益，提示组织与预算仍需控制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948894"/>
            <a:ext cx="4286250" cy="1969612"/>
          </a:xfrm>
          <a:prstGeom prst="rect">
            <a:avLst/>
          </a:prstGeom>
        </p:spPr>
      </p:pic>
      <p:sp>
        <p:nvSpPr>
          <p:cNvPr id="5" name="性能对照支持有条件的效率收益"/>
          <p:cNvSpPr>
            <a:spLocks noGrp="1"/>
          </p:cNvSpPr>
          <p:nvPr/>
        </p:nvSpPr>
        <p:spPr>
          <a:xfrm>
            <a:off x="666750" y="4305300"/>
            <a:ext cx="429577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性能对照支持有条件的效率收益</a:t>
            </a:r>
          </a:p>
        </p:txBody>
      </p:sp>
      <p:sp>
        <p:nvSpPr>
          <p:cNvPr id="6" name="跨目标、推理强度和两个材料环境比较平均评价次数与完整成功率。Rankin"/>
          <p:cNvSpPr>
            <a:spLocks noGrp="1"/>
          </p:cNvSpPr>
          <p:nvPr/>
        </p:nvSpPr>
        <p:spPr>
          <a:xfrm>
            <a:off x="666750" y="5067300"/>
            <a:ext cx="4295775" cy="19240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跨目标、推理强度和两个材料环境比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较平均评价次数与完整成功率。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Ranking经常更快，但存在Single更优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的明确反例。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453" y="1695450"/>
            <a:ext cx="2559844" cy="2476500"/>
          </a:xfrm>
          <a:prstGeom prst="rect">
            <a:avLst/>
          </a:prstGeom>
        </p:spPr>
      </p:pic>
      <p:sp>
        <p:nvSpPr>
          <p:cNvPr id="8" name="首轮消融表明提示组织贡献部分收益"/>
          <p:cNvSpPr>
            <a:spLocks noGrp="1"/>
          </p:cNvSpPr>
          <p:nvPr/>
        </p:nvSpPr>
        <p:spPr>
          <a:xfrm>
            <a:off x="5429250" y="4305300"/>
            <a:ext cx="429577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首轮消融表明提示组织贡献部分收</a:t>
            </a:r>
          </a:p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益</a:t>
            </a:r>
          </a:p>
        </p:txBody>
      </p:sp>
      <p:sp>
        <p:nvSpPr>
          <p:cNvPr id="9" name="只比较第一轮时，显式枚举与排序已经提高成功率。部分设置下层级分工再提供增"/>
          <p:cNvSpPr>
            <a:spLocks noGrp="1"/>
          </p:cNvSpPr>
          <p:nvPr/>
        </p:nvSpPr>
        <p:spPr>
          <a:xfrm>
            <a:off x="5429250" y="5067300"/>
            <a:ext cx="4295775" cy="19240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只比较第一轮时，显式枚举与排序已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经提高成功率。部分设置下层级分工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再提供增量，不能把全部收益归于多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agent。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0" y="1977032"/>
            <a:ext cx="4286250" cy="1913337"/>
          </a:xfrm>
          <a:prstGeom prst="rect">
            <a:avLst/>
          </a:prstGeom>
        </p:spPr>
      </p:pic>
      <p:sp>
        <p:nvSpPr>
          <p:cNvPr id="11" name="选择熵表明搜索更集中，因果解释仍不足"/>
          <p:cNvSpPr>
            <a:spLocks noGrp="1"/>
          </p:cNvSpPr>
          <p:nvPr/>
        </p:nvSpPr>
        <p:spPr>
          <a:xfrm>
            <a:off x="10191750" y="4305300"/>
            <a:ext cx="429577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选择熵表明搜索更集中，因果解释</a:t>
            </a:r>
          </a:p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仍不足</a:t>
            </a:r>
          </a:p>
        </p:txBody>
      </p:sp>
      <p:sp>
        <p:nvSpPr>
          <p:cNvPr id="12" name="候选选择熵显示Single与Ranking较随机基线更集中。但低熵也可能"/>
          <p:cNvSpPr>
            <a:spLocks noGrp="1"/>
          </p:cNvSpPr>
          <p:nvPr/>
        </p:nvSpPr>
        <p:spPr>
          <a:xfrm>
            <a:off x="10191750" y="5067300"/>
            <a:ext cx="4295775" cy="19240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候选选择熵显示Single与Ranking较随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机基线更集中。但低熵也可能反映固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定偏好，需要结合成功率和反馈干预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判断策略是否有效。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5" name="区分性能提升、消融证据与行为相关性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区分性能提升、消融证据与行为相关性。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MatBrain将领域分析与工具执行分别训练，以应对不同失败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MatBrain将领域分析与工具执行分别训练，以应对不同失败</a:t>
            </a:r>
            <a:r>
              <a:rPr lang="zh-CN"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模式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280" y="1619250"/>
            <a:ext cx="9936389" cy="2714625"/>
          </a:xfrm>
          <a:prstGeom prst="rect">
            <a:avLst/>
          </a:prstGeom>
        </p:spPr>
      </p:pic>
      <p:sp>
        <p:nvSpPr>
          <p:cNvPr id="5" name="知识判断与工具执行存在不同失败"/>
          <p:cNvSpPr>
            <a:spLocks noGrp="1"/>
          </p:cNvSpPr>
          <p:nvPr/>
        </p:nvSpPr>
        <p:spPr>
          <a:xfrm>
            <a:off x="609600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知识判断与工具执行存在不同失败</a:t>
            </a:r>
            <a:r>
              <a:rPr lang="zh-CN"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模式</a:t>
            </a:r>
          </a:p>
        </p:txBody>
      </p:sp>
      <p:sp>
        <p:nvSpPr>
          <p:cNvPr id="6" name="模型可能知道概念却生成不了合法结构，也可能会调用工具却无法解释结果。知识"/>
          <p:cNvSpPr>
            <a:spLocks noGrp="1"/>
          </p:cNvSpPr>
          <p:nvPr/>
        </p:nvSpPr>
        <p:spPr>
          <a:xfrm>
            <a:off x="609600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模型可能知道概念却生成不了合法结构，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也可能会调用工具却无法解释结果</a:t>
            </a:r>
            <a:r>
              <a:rPr lang="en-US"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知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识与执行能力不必同步提高。</a:t>
            </a:r>
          </a:p>
        </p:txBody>
      </p:sp>
      <p:sp>
        <p:nvSpPr>
          <p:cNvPr id="7" name="两类学习目标分别训练R1与T1"/>
          <p:cNvSpPr>
            <a:spLocks noGrp="1"/>
          </p:cNvSpPr>
          <p:nvPr/>
        </p:nvSpPr>
        <p:spPr>
          <a:xfrm>
            <a:off x="5603240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两类学习目标分别训练R1与T1</a:t>
            </a:r>
          </a:p>
        </p:txBody>
      </p:sp>
      <p:sp>
        <p:nvSpPr>
          <p:cNvPr id="8" name="领域分析需要稳定判断，工具执行需要探索行动路径。作者据此分别训练分析模型"/>
          <p:cNvSpPr>
            <a:spLocks noGrp="1"/>
          </p:cNvSpPr>
          <p:nvPr/>
        </p:nvSpPr>
        <p:spPr>
          <a:xfrm>
            <a:off x="5400675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领域分析需要稳定判断，工具执行需要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探索行动路径</a:t>
            </a:r>
            <a:r>
              <a:rPr lang="en-US"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作者据此分别训练分析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模型R1与执行模型T1。</a:t>
            </a:r>
          </a:p>
        </p:txBody>
      </p:sp>
      <p:sp>
        <p:nvSpPr>
          <p:cNvPr id="9" name="模块与组合对照检验分工收益"/>
          <p:cNvSpPr>
            <a:spLocks noGrp="1"/>
          </p:cNvSpPr>
          <p:nvPr/>
        </p:nvSpPr>
        <p:spPr>
          <a:xfrm>
            <a:off x="10191750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模块与组合对照检验分工收益</a:t>
            </a:r>
          </a:p>
        </p:txBody>
      </p:sp>
      <p:sp>
        <p:nvSpPr>
          <p:cNvPr id="10" name="分别检查领域训练、执行训练和组合收益，再用输出熵分析提供机制线索。"/>
          <p:cNvSpPr>
            <a:spLocks noGrp="1"/>
          </p:cNvSpPr>
          <p:nvPr/>
        </p:nvSpPr>
        <p:spPr>
          <a:xfrm>
            <a:off x="10191750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分别检查领域训练、执行训练和组合收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益，再用输出熵分析提供机制线索。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分工依据是分析判断与工具执行的不同学习需求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分工依据是分析判断与工具执行的不同学习需求。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协作闭环：T1执行，R1诊断并决定是否继续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协作闭环：T1执行，R1诊断并决定是否继续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63939"/>
            <a:ext cx="13982700" cy="2025248"/>
          </a:xfrm>
          <a:prstGeom prst="rect">
            <a:avLst/>
          </a:prstGeom>
        </p:spPr>
      </p:pic>
      <p:sp>
        <p:nvSpPr>
          <p:cNvPr id="5" name="T1：把意图转成动作"/>
          <p:cNvSpPr>
            <a:spLocks noGrp="1"/>
          </p:cNvSpPr>
          <p:nvPr/>
        </p:nvSpPr>
        <p:spPr>
          <a:xfrm>
            <a:off x="609600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T1：把意图转成动作</a:t>
            </a:r>
          </a:p>
        </p:txBody>
      </p:sp>
      <p:sp>
        <p:nvSpPr>
          <p:cNvPr id="6" name="规划工具调用，读取返回值与报错，将执行历史写入共享状态。"/>
          <p:cNvSpPr>
            <a:spLocks noGrp="1"/>
          </p:cNvSpPr>
          <p:nvPr/>
        </p:nvSpPr>
        <p:spPr>
          <a:xfrm>
            <a:off x="609600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规划工具调用，读取返回值与报错，将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执行历史写入共享状态。</a:t>
            </a:r>
          </a:p>
        </p:txBody>
      </p:sp>
      <p:sp>
        <p:nvSpPr>
          <p:cNvPr id="7" name="R1：检查证据与结果"/>
          <p:cNvSpPr>
            <a:spLocks noGrp="1"/>
          </p:cNvSpPr>
          <p:nvPr/>
        </p:nvSpPr>
        <p:spPr>
          <a:xfrm>
            <a:off x="5400675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R1：检查证据与结果</a:t>
            </a:r>
          </a:p>
        </p:txBody>
      </p:sp>
      <p:sp>
        <p:nvSpPr>
          <p:cNvPr id="8" name="判断结果是否合理、信息是否充分，给出解释或下一步研究意图。自身不直接操作"/>
          <p:cNvSpPr>
            <a:spLocks noGrp="1"/>
          </p:cNvSpPr>
          <p:nvPr/>
        </p:nvSpPr>
        <p:spPr>
          <a:xfrm>
            <a:off x="5400675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判断结果是否合理、信息是否充分，给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出解释或下一步研究意图。自身不直接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操作工具。</a:t>
            </a:r>
          </a:p>
        </p:txBody>
      </p:sp>
      <p:sp>
        <p:nvSpPr>
          <p:cNvPr id="9" name="条件路由"/>
          <p:cNvSpPr>
            <a:spLocks noGrp="1"/>
          </p:cNvSpPr>
          <p:nvPr/>
        </p:nvSpPr>
        <p:spPr>
          <a:xfrm>
            <a:off x="10191750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条件路由</a:t>
            </a:r>
          </a:p>
        </p:txBody>
      </p:sp>
      <p:sp>
        <p:nvSpPr>
          <p:cNvPr id="10" name="需要更多证据则返回T1，否则输出答案。LangGraph管理状态，默认最"/>
          <p:cNvSpPr>
            <a:spLocks noGrp="1"/>
          </p:cNvSpPr>
          <p:nvPr/>
        </p:nvSpPr>
        <p:spPr>
          <a:xfrm>
            <a:off x="10191750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需要更多证据则返回T1，否则输出答案。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LangGraph管理状态，默认最多6次迭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代。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共享状态连接工具执行、结果分析与后续行动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共享状态连接工具执行、结果分析与后续行动。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  工具与评测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  工具与评测</a:t>
            </a:r>
          </a:p>
        </p:txBody>
      </p:sp>
      <p:sp>
        <p:nvSpPr>
          <p:cNvPr id="2" name="统一工具接口与 Benchmark：执行环境和任务出口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统一工具接口与 Benchmark：执行环境和任务出口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工具接口定义可执行动作，Benchmark检验任务效果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工具接口定义可执行动作，Benchmark检验任务效果。</a:t>
            </a:r>
          </a:p>
        </p:txBody>
      </p:sp>
      <p:sp>
        <p:nvSpPr>
          <p:cNvPr id="200" name="矩形 199"/>
          <p:cNvSpPr>
            <a:spLocks noGrp="1"/>
          </p:cNvSpPr>
          <p:nvPr/>
        </p:nvSpPr>
        <p:spPr>
          <a:xfrm>
            <a:off x="714375" y="1628775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3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3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Mat-MCP 统一工具入口</a:t>
            </a:r>
          </a:p>
        </p:txBody>
      </p:sp>
      <p:pic>
        <p:nvPicPr>
          <p:cNvPr id="201" name="图片 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561" y="2266950"/>
            <a:ext cx="3410504" cy="3952875"/>
          </a:xfrm>
          <a:prstGeom prst="rect">
            <a:avLst/>
          </a:prstGeom>
        </p:spPr>
      </p:pic>
      <p:sp>
        <p:nvSpPr>
          <p:cNvPr id="202" name="矩形 201"/>
          <p:cNvSpPr>
            <a:spLocks noGrp="1"/>
          </p:cNvSpPr>
          <p:nvPr/>
        </p:nvSpPr>
        <p:spPr>
          <a:xfrm>
            <a:off x="714375" y="6238875"/>
            <a:ext cx="5238750" cy="10096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检索、结构生成与性质计算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提交工具名与参数，返回结果或报错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Pydantic 检查格式与参数类型</a:t>
            </a:r>
          </a:p>
        </p:txBody>
      </p:sp>
      <p:sp>
        <p:nvSpPr>
          <p:cNvPr id="203" name="矩形 202"/>
          <p:cNvSpPr>
            <a:spLocks noGrp="1"/>
          </p:cNvSpPr>
          <p:nvPr/>
        </p:nvSpPr>
        <p:spPr>
          <a:xfrm>
            <a:off x="6429375" y="1628775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3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3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Benchmark 使用 2,000 条保留问答</a:t>
            </a:r>
          </a:p>
        </p:txBody>
      </p:sp>
      <p:pic>
        <p:nvPicPr>
          <p:cNvPr id="204" name="图片 2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672" y="2295525"/>
            <a:ext cx="8089656" cy="1724025"/>
          </a:xfrm>
          <a:prstGeom prst="rect">
            <a:avLst/>
          </a:prstGeom>
        </p:spPr>
      </p:pic>
      <p:sp>
        <p:nvSpPr>
          <p:cNvPr id="205" name="矩形 204"/>
          <p:cNvSpPr>
            <a:spLocks noGrp="1"/>
          </p:cNvSpPr>
          <p:nvPr/>
        </p:nvSpPr>
        <p:spPr>
          <a:xfrm>
            <a:off x="6429375" y="4219575"/>
            <a:ext cx="8143875" cy="4572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从 Mat-252K 中划分 250K 训练集与 2K 测试集</a:t>
            </a:r>
          </a:p>
        </p:txBody>
      </p:sp>
      <p:sp>
        <p:nvSpPr>
          <p:cNvPr id="206" name="矩形 205"/>
          <p:cNvSpPr>
            <a:spLocks noGrp="1"/>
          </p:cNvSpPr>
          <p:nvPr/>
        </p:nvSpPr>
        <p:spPr>
          <a:xfrm>
            <a:off x="6429375" y="4886325"/>
            <a:ext cx="1543050" cy="4953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07" name="矩形 206"/>
          <p:cNvSpPr>
            <a:spLocks noGrp="1"/>
          </p:cNvSpPr>
          <p:nvPr/>
        </p:nvSpPr>
        <p:spPr>
          <a:xfrm>
            <a:off x="6534150" y="4886325"/>
            <a:ext cx="1400175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性质判断</a:t>
            </a:r>
          </a:p>
        </p:txBody>
      </p:sp>
      <p:sp>
        <p:nvSpPr>
          <p:cNvPr id="208" name="矩形 207"/>
          <p:cNvSpPr>
            <a:spLocks noGrp="1"/>
          </p:cNvSpPr>
          <p:nvPr/>
        </p:nvSpPr>
        <p:spPr>
          <a:xfrm>
            <a:off x="8143875" y="4886325"/>
            <a:ext cx="6477000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稳定性、金属性、磁性等分类</a:t>
            </a:r>
          </a:p>
        </p:txBody>
      </p:sp>
      <p:sp>
        <p:nvSpPr>
          <p:cNvPr id="209" name="矩形 208"/>
          <p:cNvSpPr>
            <a:spLocks noGrp="1"/>
          </p:cNvSpPr>
          <p:nvPr/>
        </p:nvSpPr>
        <p:spPr>
          <a:xfrm>
            <a:off x="6429375" y="5514975"/>
            <a:ext cx="1543050" cy="4953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10" name="矩形 209"/>
          <p:cNvSpPr>
            <a:spLocks noGrp="1"/>
          </p:cNvSpPr>
          <p:nvPr/>
        </p:nvSpPr>
        <p:spPr>
          <a:xfrm>
            <a:off x="6534150" y="5514975"/>
            <a:ext cx="1400175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结构输出</a:t>
            </a:r>
          </a:p>
        </p:txBody>
      </p:sp>
      <p:sp>
        <p:nvSpPr>
          <p:cNvPr id="211" name="矩形 210"/>
          <p:cNvSpPr>
            <a:spLocks noGrp="1"/>
          </p:cNvSpPr>
          <p:nvPr/>
        </p:nvSpPr>
        <p:spPr>
          <a:xfrm>
            <a:off x="8143875" y="5514975"/>
            <a:ext cx="6477000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CIF 能否解析，以及结构是否匹配</a:t>
            </a:r>
          </a:p>
        </p:txBody>
      </p:sp>
      <p:sp>
        <p:nvSpPr>
          <p:cNvPr id="212" name="矩形 211"/>
          <p:cNvSpPr>
            <a:spLocks noGrp="1"/>
          </p:cNvSpPr>
          <p:nvPr/>
        </p:nvSpPr>
        <p:spPr>
          <a:xfrm>
            <a:off x="6429375" y="6143625"/>
            <a:ext cx="1543050" cy="4953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13" name="矩形 212"/>
          <p:cNvSpPr>
            <a:spLocks noGrp="1"/>
          </p:cNvSpPr>
          <p:nvPr/>
        </p:nvSpPr>
        <p:spPr>
          <a:xfrm>
            <a:off x="6534150" y="6143625"/>
            <a:ext cx="1400175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数值任务</a:t>
            </a:r>
          </a:p>
        </p:txBody>
      </p:sp>
      <p:sp>
        <p:nvSpPr>
          <p:cNvPr id="214" name="矩形 213"/>
          <p:cNvSpPr>
            <a:spLocks noGrp="1"/>
          </p:cNvSpPr>
          <p:nvPr/>
        </p:nvSpPr>
        <p:spPr>
          <a:xfrm>
            <a:off x="8143875" y="6143625"/>
            <a:ext cx="6477000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系统输出与数据库参考值的一致性</a:t>
            </a:r>
          </a:p>
        </p:txBody>
      </p:sp>
      <p:sp>
        <p:nvSpPr>
          <p:cNvPr id="215" name="矩形 214"/>
          <p:cNvSpPr>
            <a:spLocks noGrp="1"/>
          </p:cNvSpPr>
          <p:nvPr/>
        </p:nvSpPr>
        <p:spPr>
          <a:xfrm>
            <a:off x="6429375" y="6829425"/>
            <a:ext cx="8096250" cy="4572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七项离散任务与三项数值评价，分别检验格式与内容。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Mat-R1：通过领域SFT学习分析与结构化输出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Mat-R1：通过领域SFT学习分析与结构化输出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005907"/>
            <a:ext cx="7762875" cy="4760712"/>
          </a:xfrm>
          <a:prstGeom prst="rect">
            <a:avLst/>
          </a:prstGeom>
        </p:spPr>
      </p:pic>
      <p:sp>
        <p:nvSpPr>
          <p:cNvPr id="5" name="材料与科学数据训练领域分析能力"/>
          <p:cNvSpPr>
            <a:spLocks noGrp="1"/>
          </p:cNvSpPr>
          <p:nvPr/>
        </p:nvSpPr>
        <p:spPr>
          <a:xfrm>
            <a:off x="8610600" y="16573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材料与科学数据训练领域分析能力</a:t>
            </a:r>
          </a:p>
        </p:txBody>
      </p:sp>
      <p:sp>
        <p:nvSpPr>
          <p:cNvPr id="6" name="Qwen3-30B-A3B：总参数30B，每token激活约3B。250"/>
          <p:cNvSpPr>
            <a:spLocks noGrp="1"/>
          </p:cNvSpPr>
          <p:nvPr/>
        </p:nvSpPr>
        <p:spPr>
          <a:xfrm>
            <a:off x="8610600" y="2133600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Qwen3-30B-A3B：总参数30B，每token激活约3B。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250K材料问答结合173K科学推理轨迹。</a:t>
            </a:r>
          </a:p>
        </p:txBody>
      </p:sp>
      <p:sp>
        <p:nvSpPr>
          <p:cNvPr id="7" name="全参数SFT学习结构与性质的对应"/>
          <p:cNvSpPr>
            <a:spLocks noGrp="1"/>
          </p:cNvSpPr>
          <p:nvPr/>
        </p:nvSpPr>
        <p:spPr>
          <a:xfrm>
            <a:off x="8610600" y="3520059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全参数SFT学习结构与性质的对应</a:t>
            </a:r>
          </a:p>
        </p:txBody>
      </p:sp>
      <p:sp>
        <p:nvSpPr>
          <p:cNvPr id="8" name="全参数SFT，8×H800训练2个epoch。学习结构、性质与解释之间的"/>
          <p:cNvSpPr>
            <a:spLocks noGrp="1"/>
          </p:cNvSpPr>
          <p:nvPr/>
        </p:nvSpPr>
        <p:spPr>
          <a:xfrm>
            <a:off x="8610600" y="3996309"/>
            <a:ext cx="6000750" cy="1132332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全参数SFT，8×H800训练2个epoch。学习结构、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性质与解释之间的对应关系，不直接负责调用工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具。</a:t>
            </a:r>
          </a:p>
        </p:txBody>
      </p:sp>
      <p:sp>
        <p:nvSpPr>
          <p:cNvPr id="9" name="CIF以文本记录晶体的元素与位置"/>
          <p:cNvSpPr>
            <a:spLocks noGrp="1"/>
          </p:cNvSpPr>
          <p:nvPr/>
        </p:nvSpPr>
        <p:spPr>
          <a:xfrm>
            <a:off x="8610600" y="5734812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CIF以文本记录晶体的元素与位置</a:t>
            </a:r>
          </a:p>
        </p:txBody>
      </p:sp>
      <p:sp>
        <p:nvSpPr>
          <p:cNvPr id="10" name="CIF是晶体结构的文本文件，记录元素和位置。格式可解析与结构内容正确，是"/>
          <p:cNvSpPr>
            <a:spLocks noGrp="1"/>
          </p:cNvSpPr>
          <p:nvPr/>
        </p:nvSpPr>
        <p:spPr>
          <a:xfrm>
            <a:off x="8610600" y="6211062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CIF是晶体结构的文本文件，记录元素和位置。格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式可解析与结构内容正确，是两种不同能力。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领域SFT帮助R1学习分析与结构化输出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领域SFT帮助R1学习分析与结构化输出。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Mat-T1：在工具反馈中学习多轮执行策略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Mat-T1：在工具反馈中学习多轮执行策略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270929"/>
            <a:ext cx="7762875" cy="4230667"/>
          </a:xfrm>
          <a:prstGeom prst="rect">
            <a:avLst/>
          </a:prstGeom>
        </p:spPr>
      </p:pic>
      <p:sp>
        <p:nvSpPr>
          <p:cNvPr id="5" name="复杂查询训练多轮工具策略"/>
          <p:cNvSpPr>
            <a:spLocks noGrp="1"/>
          </p:cNvSpPr>
          <p:nvPr/>
        </p:nvSpPr>
        <p:spPr>
          <a:xfrm>
            <a:off x="8610600" y="16573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复杂查询训练多轮工具策略</a:t>
            </a:r>
          </a:p>
        </p:txBody>
      </p:sp>
      <p:sp>
        <p:nvSpPr>
          <p:cNvPr id="6" name="Qwen3-14B使用DAPO强化学习，从SFT数据中选20K复杂查询，"/>
          <p:cNvSpPr>
            <a:spLocks noGrp="1"/>
          </p:cNvSpPr>
          <p:nvPr/>
        </p:nvSpPr>
        <p:spPr>
          <a:xfrm>
            <a:off x="8610600" y="2133600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Qwen3-14B使用DAPO强化学习，从SFT数据中选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20K复杂查询，每个问题采样8条轨迹。</a:t>
            </a:r>
          </a:p>
        </p:txBody>
      </p:sp>
      <p:sp>
        <p:nvSpPr>
          <p:cNvPr id="7" name="工具结果和报错驱动下一轮行动"/>
          <p:cNvSpPr>
            <a:spLocks noGrp="1"/>
          </p:cNvSpPr>
          <p:nvPr/>
        </p:nvSpPr>
        <p:spPr>
          <a:xfrm>
            <a:off x="8610600" y="3696081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工具结果和报错驱动下一轮行动</a:t>
            </a:r>
          </a:p>
        </p:txBody>
      </p:sp>
      <p:sp>
        <p:nvSpPr>
          <p:cNvPr id="8" name="生成思考和工具调用，执行后接收observation，再决定后续动作。训"/>
          <p:cNvSpPr>
            <a:spLocks noGrp="1"/>
          </p:cNvSpPr>
          <p:nvPr/>
        </p:nvSpPr>
        <p:spPr>
          <a:xfrm>
            <a:off x="8610600" y="4172331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生成思考和工具调用，执行后接收observation，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再决定后续动作</a:t>
            </a:r>
            <a:r>
              <a:rPr lang="en-US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训练覆盖多轮工作流。</a:t>
            </a:r>
          </a:p>
        </p:txBody>
      </p:sp>
      <p:sp>
        <p:nvSpPr>
          <p:cNvPr id="9" name="R1学习分析，T1学习执行"/>
          <p:cNvSpPr>
            <a:spLocks noGrp="1"/>
          </p:cNvSpPr>
          <p:nvPr/>
        </p:nvSpPr>
        <p:spPr>
          <a:xfrm>
            <a:off x="8610600" y="5734812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R1学习分析，T1学习执行</a:t>
            </a:r>
          </a:p>
        </p:txBody>
      </p:sp>
      <p:sp>
        <p:nvSpPr>
          <p:cNvPr id="10" name="R1学习如何分析，T1学习如何行动。T1使用过程奖励，不依赖每个任务都有"/>
          <p:cNvSpPr>
            <a:spLocks noGrp="1"/>
          </p:cNvSpPr>
          <p:nvPr/>
        </p:nvSpPr>
        <p:spPr>
          <a:xfrm>
            <a:off x="8610600" y="6211062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R1学习如何分析，T1学习如何行动。T1使用过程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奖励，不依赖每个任务都有最终标准答案。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执行策略训练帮助T1利用工具反馈持续行动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执行策略训练帮助T1利用工具反馈持续行动。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过程奖励：训练流程规范，仍需验证任务正确性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过程奖励：训练流程规范，仍需验证任务正确性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8" name="过程奖励的价值仍需最终任务结果验证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过程奖励的价值仍需最终任务结果验证。</a:t>
            </a:r>
          </a:p>
        </p:txBody>
      </p:sp>
      <p:sp>
        <p:nvSpPr>
          <p:cNvPr id="200" name="矩形 199"/>
          <p:cNvSpPr>
            <a:spLocks noGrp="1"/>
          </p:cNvSpPr>
          <p:nvPr/>
        </p:nvSpPr>
        <p:spPr>
          <a:xfrm>
            <a:off x="714375" y="1581150"/>
            <a:ext cx="13811250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四项过程奖励共同优化工具执行</a:t>
            </a:r>
          </a:p>
        </p:txBody>
      </p:sp>
      <p:pic>
        <p:nvPicPr>
          <p:cNvPr id="201" name="图片 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396912"/>
            <a:ext cx="6191250" cy="540176"/>
          </a:xfrm>
          <a:prstGeom prst="rect">
            <a:avLst/>
          </a:prstGeom>
        </p:spPr>
      </p:pic>
      <p:sp>
        <p:nvSpPr>
          <p:cNvPr id="202" name="矩形 201"/>
          <p:cNvSpPr>
            <a:spLocks noGrp="1"/>
          </p:cNvSpPr>
          <p:nvPr/>
        </p:nvSpPr>
        <p:spPr>
          <a:xfrm>
            <a:off x="762000" y="31718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权重依次为 0.10、0.30、0.25、0.35</a:t>
            </a:r>
          </a:p>
        </p:txBody>
      </p:sp>
      <p:sp>
        <p:nvSpPr>
          <p:cNvPr id="203" name="矩形 202"/>
          <p:cNvSpPr>
            <a:spLocks noGrp="1"/>
          </p:cNvSpPr>
          <p:nvPr/>
        </p:nvSpPr>
        <p:spPr>
          <a:xfrm>
            <a:off x="762000" y="4029075"/>
            <a:ext cx="6191250" cy="4191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思考长度采用平滑饱和奖励</a:t>
            </a:r>
          </a:p>
        </p:txBody>
      </p:sp>
      <p:pic>
        <p:nvPicPr>
          <p:cNvPr id="204" name="图片 2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22" y="4619625"/>
            <a:ext cx="2570205" cy="914400"/>
          </a:xfrm>
          <a:prstGeom prst="rect">
            <a:avLst/>
          </a:prstGeom>
        </p:spPr>
      </p:pic>
      <p:sp>
        <p:nvSpPr>
          <p:cNvPr id="205" name="矩形 204"/>
          <p:cNvSpPr>
            <a:spLocks noGrp="1"/>
          </p:cNvSpPr>
          <p:nvPr/>
        </p:nvSpPr>
        <p:spPr>
          <a:xfrm>
            <a:off x="762000" y="5676900"/>
            <a:ext cx="6286500" cy="9048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L 为各步 think 内容的平均 token 长度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λ = 500，长度增加时奖励逐渐趋近 1</a:t>
            </a:r>
          </a:p>
        </p:txBody>
      </p:sp>
      <p:sp>
        <p:nvSpPr>
          <p:cNvPr id="206" name="矩形 205"/>
          <p:cNvSpPr>
            <a:spLocks noGrp="1"/>
          </p:cNvSpPr>
          <p:nvPr/>
        </p:nvSpPr>
        <p:spPr>
          <a:xfrm>
            <a:off x="7524750" y="1666875"/>
            <a:ext cx="7048500" cy="12573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07" name="矩形 206"/>
          <p:cNvSpPr>
            <a:spLocks noGrp="1"/>
          </p:cNvSpPr>
          <p:nvPr/>
        </p:nvSpPr>
        <p:spPr>
          <a:xfrm>
            <a:off x="7734300" y="1733550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交互轮次  0.10</a:t>
            </a:r>
          </a:p>
        </p:txBody>
      </p:sp>
      <p:sp>
        <p:nvSpPr>
          <p:cNvPr id="208" name="矩形 207"/>
          <p:cNvSpPr>
            <a:spLocks noGrp="1"/>
          </p:cNvSpPr>
          <p:nvPr/>
        </p:nvSpPr>
        <p:spPr>
          <a:xfrm>
            <a:off x="7734300" y="2181225"/>
            <a:ext cx="6667500" cy="6572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鼓励多轮工具交互。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轮次更多不自动代表探索更有效。</a:t>
            </a:r>
          </a:p>
        </p:txBody>
      </p:sp>
      <p:sp>
        <p:nvSpPr>
          <p:cNvPr id="209" name="矩形 208"/>
          <p:cNvSpPr>
            <a:spLocks noGrp="1"/>
          </p:cNvSpPr>
          <p:nvPr/>
        </p:nvSpPr>
        <p:spPr>
          <a:xfrm>
            <a:off x="7524750" y="3048000"/>
            <a:ext cx="7048500" cy="12573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10" name="矩形 209"/>
          <p:cNvSpPr>
            <a:spLocks noGrp="1"/>
          </p:cNvSpPr>
          <p:nvPr/>
        </p:nvSpPr>
        <p:spPr>
          <a:xfrm>
            <a:off x="7734300" y="3114675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思考长度  0.30</a:t>
            </a:r>
          </a:p>
        </p:txBody>
      </p:sp>
      <p:sp>
        <p:nvSpPr>
          <p:cNvPr id="211" name="矩形 210"/>
          <p:cNvSpPr>
            <a:spLocks noGrp="1"/>
          </p:cNvSpPr>
          <p:nvPr/>
        </p:nvSpPr>
        <p:spPr>
          <a:xfrm>
            <a:off x="7734300" y="3562350"/>
            <a:ext cx="6667500" cy="6572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奖励更充分的思考过程。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长度只是代理指标，不直接判断推理是否正确。</a:t>
            </a:r>
          </a:p>
        </p:txBody>
      </p:sp>
      <p:sp>
        <p:nvSpPr>
          <p:cNvPr id="212" name="矩形 211"/>
          <p:cNvSpPr>
            <a:spLocks noGrp="1"/>
          </p:cNvSpPr>
          <p:nvPr/>
        </p:nvSpPr>
        <p:spPr>
          <a:xfrm>
            <a:off x="7524750" y="4429125"/>
            <a:ext cx="7048500" cy="12573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13" name="矩形 212"/>
          <p:cNvSpPr>
            <a:spLocks noGrp="1"/>
          </p:cNvSpPr>
          <p:nvPr/>
        </p:nvSpPr>
        <p:spPr>
          <a:xfrm>
            <a:off x="7734300" y="4495800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输出格式  0.25</a:t>
            </a:r>
          </a:p>
        </p:txBody>
      </p:sp>
      <p:sp>
        <p:nvSpPr>
          <p:cNvPr id="214" name="矩形 213"/>
          <p:cNvSpPr>
            <a:spLocks noGrp="1"/>
          </p:cNvSpPr>
          <p:nvPr/>
        </p:nvSpPr>
        <p:spPr>
          <a:xfrm>
            <a:off x="7734300" y="4943475"/>
            <a:ext cx="6667500" cy="6572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检查 think、tool_call、answer 的结构与顺序。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保证输出符合工作流协议。</a:t>
            </a:r>
          </a:p>
        </p:txBody>
      </p:sp>
      <p:sp>
        <p:nvSpPr>
          <p:cNvPr id="215" name="矩形 214"/>
          <p:cNvSpPr>
            <a:spLocks noGrp="1"/>
          </p:cNvSpPr>
          <p:nvPr/>
        </p:nvSpPr>
        <p:spPr>
          <a:xfrm>
            <a:off x="7524750" y="5810250"/>
            <a:ext cx="7048500" cy="125730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216" name="矩形 215"/>
          <p:cNvSpPr>
            <a:spLocks noGrp="1"/>
          </p:cNvSpPr>
          <p:nvPr/>
        </p:nvSpPr>
        <p:spPr>
          <a:xfrm>
            <a:off x="7734300" y="5876925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调用有效性  0.35</a:t>
            </a:r>
          </a:p>
        </p:txBody>
      </p:sp>
      <p:sp>
        <p:nvSpPr>
          <p:cNvPr id="217" name="矩形 216"/>
          <p:cNvSpPr>
            <a:spLocks noGrp="1"/>
          </p:cNvSpPr>
          <p:nvPr/>
        </p:nvSpPr>
        <p:spPr>
          <a:xfrm>
            <a:off x="7734300" y="6324600"/>
            <a:ext cx="6667500" cy="65722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检查工具是否存在、JSON 与参数是否合法。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调用可执行不等于最终科学结论正确。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领域SFT改善结构输出，但语法与内容仍有差距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领域SFT改善结构输出，但语法与内容仍有差距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898974"/>
            <a:ext cx="7762875" cy="4974577"/>
          </a:xfrm>
          <a:prstGeom prst="rect">
            <a:avLst/>
          </a:prstGeom>
        </p:spPr>
      </p:pic>
      <p:sp>
        <p:nvSpPr>
          <p:cNvPr id="5" name="雷达图展示七项任务的相对表现"/>
          <p:cNvSpPr>
            <a:spLocks noGrp="1"/>
          </p:cNvSpPr>
          <p:nvPr/>
        </p:nvSpPr>
        <p:spPr>
          <a:xfrm>
            <a:off x="8610600" y="16573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雷达图展示七项任务的相对表现</a:t>
            </a:r>
          </a:p>
        </p:txBody>
      </p:sp>
      <p:sp>
        <p:nvSpPr>
          <p:cNvPr id="6" name="每个轴是一项任务，越靠外得分越高。橙色为R1，灰色为未微调基座，其余为通"/>
          <p:cNvSpPr>
            <a:spLocks noGrp="1"/>
          </p:cNvSpPr>
          <p:nvPr/>
        </p:nvSpPr>
        <p:spPr>
          <a:xfrm>
            <a:off x="8610600" y="2133600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每个轴是一项任务，越靠外得分越高。橙色为R1，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灰色为未微调基座，其余为通用模型。</a:t>
            </a:r>
          </a:p>
        </p:txBody>
      </p:sp>
      <p:sp>
        <p:nvSpPr>
          <p:cNvPr id="7" name="可解析格式与正确结构分别评价"/>
          <p:cNvSpPr>
            <a:spLocks noGrp="1"/>
          </p:cNvSpPr>
          <p:nvPr/>
        </p:nvSpPr>
        <p:spPr>
          <a:xfrm>
            <a:off x="8610600" y="3520059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可解析格式与正确结构分别评价</a:t>
            </a:r>
          </a:p>
        </p:txBody>
      </p:sp>
      <p:sp>
        <p:nvSpPr>
          <p:cNvPr id="8" name="cif_syntax检查结构文件能否解析，sim_structure检查"/>
          <p:cNvSpPr>
            <a:spLocks noGrp="1"/>
          </p:cNvSpPr>
          <p:nvPr/>
        </p:nvSpPr>
        <p:spPr>
          <a:xfrm>
            <a:off x="8610600" y="3996309"/>
            <a:ext cx="6000750" cy="1132332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cif_syntax检查结构文件</a:t>
            </a:r>
            <a:r>
              <a:rPr lang="zh-CN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是否符合语法</a:t>
            </a: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sim_structure检查是否匹配目标结构</a:t>
            </a:r>
            <a:r>
              <a:rPr lang="en-US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9" name="领域训练改善结构输出，内容仍有差距"/>
          <p:cNvSpPr>
            <a:spLocks noGrp="1"/>
          </p:cNvSpPr>
          <p:nvPr/>
        </p:nvSpPr>
        <p:spPr>
          <a:xfrm>
            <a:off x="8610600" y="5734812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领域训练改善结构输出，内容仍有差距</a:t>
            </a:r>
          </a:p>
        </p:txBody>
      </p:sp>
      <p:sp>
        <p:nvSpPr>
          <p:cNvPr id="10" name="R1明显改善结构相关任务，但结构相似性仍较弱。说明领域适配有效，尚不能保"/>
          <p:cNvSpPr>
            <a:spLocks noGrp="1"/>
          </p:cNvSpPr>
          <p:nvPr/>
        </p:nvSpPr>
        <p:spPr>
          <a:xfrm>
            <a:off x="8610600" y="6211062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R1明显改善结构相关任务，但结构相似性仍较弱。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说明领域适配有效，尚不能保证生成内容正确。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格式可解析与结构内容正确需要分别评估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格式可解析与结构内容正确需要分别评估。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固定分析模型后，T1优于论文采用的ReAct配置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固定分析模型后，T1优于论文采用的ReAct配置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547995"/>
            <a:ext cx="7762875" cy="3676535"/>
          </a:xfrm>
          <a:prstGeom prst="rect">
            <a:avLst/>
          </a:prstGeom>
        </p:spPr>
      </p:pic>
      <p:sp>
        <p:nvSpPr>
          <p:cNvPr id="5" name="固定DeepSeek-R1比较三种执行方式"/>
          <p:cNvSpPr>
            <a:spLocks noGrp="1"/>
          </p:cNvSpPr>
          <p:nvPr/>
        </p:nvSpPr>
        <p:spPr>
          <a:xfrm>
            <a:off x="8610600" y="16573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固定DeepSeek-R1比较三种执行方式</a:t>
            </a:r>
          </a:p>
        </p:txBody>
      </p:sp>
      <p:sp>
        <p:nvSpPr>
          <p:cNvPr id="6" name="灰色：原始DeepSeek-R1；斜线：ReAct接工具；蓝色：Deep"/>
          <p:cNvSpPr>
            <a:spLocks noGrp="1"/>
          </p:cNvSpPr>
          <p:nvPr/>
        </p:nvSpPr>
        <p:spPr>
          <a:xfrm>
            <a:off x="8610600" y="2133600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灰色：原始DeepSeek-R1；斜线：ReAct接工具；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蓝色：DeepSeek-R1与T1协作。</a:t>
            </a:r>
          </a:p>
        </p:txBody>
      </p:sp>
      <p:sp>
        <p:nvSpPr>
          <p:cNvPr id="7" name="训练后的T1在多项任务进一步提升"/>
          <p:cNvSpPr>
            <a:spLocks noGrp="1"/>
          </p:cNvSpPr>
          <p:nvPr/>
        </p:nvSpPr>
        <p:spPr>
          <a:xfrm>
            <a:off x="8610600" y="3696081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训练后的T1在多项任务进一步提升</a:t>
            </a:r>
          </a:p>
        </p:txBody>
      </p:sp>
      <p:sp>
        <p:nvSpPr>
          <p:cNvPr id="8" name="T1在多项性质判断与结构任务上进一步改善，部分任务中仅靠ReAct的收益"/>
          <p:cNvSpPr>
            <a:spLocks noGrp="1"/>
          </p:cNvSpPr>
          <p:nvPr/>
        </p:nvSpPr>
        <p:spPr>
          <a:xfrm>
            <a:off x="8610600" y="4172331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T1在多项性质判断与结构任务上进一步改善，部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分任务中仅靠ReAct的收益较小。</a:t>
            </a:r>
          </a:p>
        </p:txBody>
      </p:sp>
      <p:sp>
        <p:nvSpPr>
          <p:cNvPr id="9" name="额外模型与训练资源尚未分别控制"/>
          <p:cNvSpPr>
            <a:spLocks noGrp="1"/>
          </p:cNvSpPr>
          <p:nvPr/>
        </p:nvSpPr>
        <p:spPr>
          <a:xfrm>
            <a:off x="8610600" y="5734812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额外模型与训练资源尚未分别控制</a:t>
            </a:r>
          </a:p>
        </p:txBody>
      </p:sp>
      <p:sp>
        <p:nvSpPr>
          <p:cNvPr id="10" name="工具接入与工具策略训练是不同因素。结果支持专用执行模块，但仍包含额外模型"/>
          <p:cNvSpPr>
            <a:spLocks noGrp="1"/>
          </p:cNvSpPr>
          <p:nvPr/>
        </p:nvSpPr>
        <p:spPr>
          <a:xfrm>
            <a:off x="8610600" y="6211062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工具接入与工具策略训练是不同因素。结果支持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专用执行模块，但仍包含额外模型与训练资源。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工具接入与工具策略训练具有不同作用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工具接入与工具策略训练具有不同作用。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完整系统整体更强，但组合也可能带来退化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完整系统整体更强，但组合也可能带来退化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378" y="1619250"/>
            <a:ext cx="11992194" cy="2714625"/>
          </a:xfrm>
          <a:prstGeom prst="rect">
            <a:avLst/>
          </a:prstGeom>
        </p:spPr>
      </p:pic>
      <p:sp>
        <p:nvSpPr>
          <p:cNvPr id="5" name="领域分析与执行在多项任务互补"/>
          <p:cNvSpPr>
            <a:spLocks noGrp="1"/>
          </p:cNvSpPr>
          <p:nvPr/>
        </p:nvSpPr>
        <p:spPr>
          <a:xfrm>
            <a:off x="609600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领域分析与执行在多项任务互补</a:t>
            </a:r>
          </a:p>
        </p:txBody>
      </p:sp>
      <p:sp>
        <p:nvSpPr>
          <p:cNvPr id="6" name="MatBrain在多项性质判断和结构相似性任务上表现突出，支持领域分析与"/>
          <p:cNvSpPr>
            <a:spLocks noGrp="1"/>
          </p:cNvSpPr>
          <p:nvPr/>
        </p:nvSpPr>
        <p:spPr>
          <a:xfrm>
            <a:off x="609600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MatBrain在多项性质判断和结构相似性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任务上表现突出，支持领域分析与执行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能力互补。</a:t>
            </a:r>
          </a:p>
        </p:txBody>
      </p:sp>
      <p:sp>
        <p:nvSpPr>
          <p:cNvPr id="7" name="CIF语法和直接带隙存在更优对照"/>
          <p:cNvSpPr>
            <a:spLocks noGrp="1"/>
          </p:cNvSpPr>
          <p:nvPr/>
        </p:nvSpPr>
        <p:spPr>
          <a:xfrm>
            <a:off x="5400675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CIF语法和直接带隙存在更优对照</a:t>
            </a:r>
          </a:p>
        </p:txBody>
      </p:sp>
      <p:sp>
        <p:nvSpPr>
          <p:cNvPr id="8" name="红箭头标出两项例外：CIF语法上独立R1更高；直接带隙判断上，Gemin"/>
          <p:cNvSpPr>
            <a:spLocks noGrp="1"/>
          </p:cNvSpPr>
          <p:nvPr/>
        </p:nvSpPr>
        <p:spPr>
          <a:xfrm>
            <a:off x="5400675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红箭头标出两项例外：CIF语法上独立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R1更高；直接带隙判断上，Gemini 2.5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Pro与T1的组合略高于MatBrain。</a:t>
            </a:r>
          </a:p>
        </p:txBody>
      </p:sp>
      <p:sp>
        <p:nvSpPr>
          <p:cNvPr id="9" name="协作可能增加原本不必要的出错环节"/>
          <p:cNvSpPr>
            <a:spLocks noGrp="1"/>
          </p:cNvSpPr>
          <p:nvPr/>
        </p:nvSpPr>
        <p:spPr>
          <a:xfrm>
            <a:off x="10191750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协作可能增加原本不必要的出错环节</a:t>
            </a:r>
          </a:p>
        </p:txBody>
      </p:sp>
      <p:sp>
        <p:nvSpPr>
          <p:cNvPr id="10" name="额外路由与调用未必适合所有任务。任务已可直接完成时，协作可能增加出错环节"/>
          <p:cNvSpPr>
            <a:spLocks noGrp="1"/>
          </p:cNvSpPr>
          <p:nvPr/>
        </p:nvSpPr>
        <p:spPr>
          <a:xfrm>
            <a:off x="10191750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额外路由与调用未必适合所有任务。任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务已可直接完成时，协作可能增加出错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环节；原因仍需消融。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完整系统总体更强，但应同时报告子任务退化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完整系统总体更强，但应同时报告子任务退化。</a:t>
            </a:r>
          </a:p>
        </p:txBody>
      </p:sp>
      <p:sp>
        <p:nvSpPr>
          <p:cNvPr id="14" name="下箭头 13"/>
          <p:cNvSpPr>
            <a:spLocks noGrp="1"/>
          </p:cNvSpPr>
          <p:nvPr/>
        </p:nvSpPr>
        <p:spPr>
          <a:xfrm>
            <a:off x="4972050" y="2305050"/>
            <a:ext cx="247650" cy="495300"/>
          </a:xfrm>
          <a:prstGeom prst="downArrow">
            <a:avLst/>
          </a:prstGeom>
          <a:solidFill>
            <a:srgbClr val="C33934"/>
          </a:solidFill>
          <a:ln w="0">
            <a:noFill/>
          </a:ln>
        </p:spPr>
      </p:sp>
      <p:sp>
        <p:nvSpPr>
          <p:cNvPr id="15" name="下箭头 14"/>
          <p:cNvSpPr>
            <a:spLocks noGrp="1"/>
          </p:cNvSpPr>
          <p:nvPr/>
        </p:nvSpPr>
        <p:spPr>
          <a:xfrm>
            <a:off x="11372850" y="2514600"/>
            <a:ext cx="247650" cy="495300"/>
          </a:xfrm>
          <a:prstGeom prst="downArrow">
            <a:avLst/>
          </a:prstGeom>
          <a:solidFill>
            <a:srgbClr val="C33934"/>
          </a:solidFill>
          <a:ln w="0"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数值任务：系统输出与数据库参考值具有较高一致性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数值任务：系统输出与</a:t>
            </a:r>
            <a:r>
              <a:rPr lang="en-US"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MP</a:t>
            </a: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数据库参考值具有较高一致性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510" y="1619250"/>
            <a:ext cx="10295930" cy="2714625"/>
          </a:xfrm>
          <a:prstGeom prst="rect">
            <a:avLst/>
          </a:prstGeom>
        </p:spPr>
      </p:pic>
      <p:sp>
        <p:nvSpPr>
          <p:cNvPr id="5" name="散点越靠近对角线，输出越接近参考值"/>
          <p:cNvSpPr>
            <a:spLocks noGrp="1"/>
          </p:cNvSpPr>
          <p:nvPr/>
        </p:nvSpPr>
        <p:spPr>
          <a:xfrm>
            <a:off x="609600" y="4600575"/>
            <a:ext cx="47974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散点越靠近对角线，输出越接近参考值</a:t>
            </a:r>
          </a:p>
        </p:txBody>
      </p:sp>
      <p:sp>
        <p:nvSpPr>
          <p:cNvPr id="6" name="横轴为MP数据库参考值，纵轴为系统输出。三项材料性质作为数值测试目标，点"/>
          <p:cNvSpPr>
            <a:spLocks noGrp="1"/>
          </p:cNvSpPr>
          <p:nvPr/>
        </p:nvSpPr>
        <p:spPr>
          <a:xfrm>
            <a:off x="706755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横轴为MP数据库参考值，纵轴为系统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输出。三项材料性质作为数值测试目标，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点越接近对角线越好。</a:t>
            </a:r>
          </a:p>
        </p:txBody>
      </p:sp>
      <p:sp>
        <p:nvSpPr>
          <p:cNvPr id="7" name="三项R²为0.97、0.99和0.84"/>
          <p:cNvSpPr>
            <a:spLocks noGrp="1"/>
          </p:cNvSpPr>
          <p:nvPr/>
        </p:nvSpPr>
        <p:spPr>
          <a:xfrm>
            <a:off x="5675630" y="4566920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三项R²为0.97、0.99和0.84</a:t>
            </a:r>
          </a:p>
        </p:txBody>
      </p:sp>
      <p:sp>
        <p:nvSpPr>
          <p:cNvPr id="8" name="三项R²分别为0.97、0.99、0.84。它们衡量拟合程度，不能读成分"/>
          <p:cNvSpPr>
            <a:spLocks noGrp="1"/>
          </p:cNvSpPr>
          <p:nvPr/>
        </p:nvSpPr>
        <p:spPr>
          <a:xfrm>
            <a:off x="5675630" y="5376545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三项R²分别为0.97、0.99、0.84</a:t>
            </a:r>
            <a:r>
              <a:rPr lang="en-US"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，</a:t>
            </a:r>
            <a:endParaRPr sz="1950" b="0">
              <a:solidFill>
                <a:srgbClr val="122C49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衡量拟合程度。</a:t>
            </a:r>
          </a:p>
        </p:txBody>
      </p:sp>
      <p:sp>
        <p:nvSpPr>
          <p:cNvPr id="9" name="检索能力与未知材料预测仍需区分"/>
          <p:cNvSpPr>
            <a:spLocks noGrp="1"/>
          </p:cNvSpPr>
          <p:nvPr/>
        </p:nvSpPr>
        <p:spPr>
          <a:xfrm>
            <a:off x="10191750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检索能力与未知材料预测仍需区分</a:t>
            </a:r>
          </a:p>
        </p:txBody>
      </p:sp>
      <p:sp>
        <p:nvSpPr>
          <p:cNvPr id="10" name="系统能查库与计算。高一致性说明系统能获得数值，是否能预测未见材料，还取决"/>
          <p:cNvSpPr>
            <a:spLocks noGrp="1"/>
          </p:cNvSpPr>
          <p:nvPr/>
        </p:nvSpPr>
        <p:spPr>
          <a:xfrm>
            <a:off x="10191750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系统能查库与计算。高一致性说明系统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能获得数值，是否能预测未见材料，还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取决于数据隔离和答案来源。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数值一致性需要结合检索路径与数据隔离解释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数值一致性需要结合检索路径与数据隔离解释。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输出熵：领域微调与执行强化学习呈现不同变化趋势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输出熵：领域微调与执行强化学习呈现不同变化趋势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746835"/>
            <a:ext cx="7762875" cy="3278855"/>
          </a:xfrm>
          <a:prstGeom prst="rect">
            <a:avLst/>
          </a:prstGeom>
        </p:spPr>
      </p:pic>
      <p:sp>
        <p:nvSpPr>
          <p:cNvPr id="5" name="token熵衡量下一词预测的不确定性"/>
          <p:cNvSpPr>
            <a:spLocks noGrp="1"/>
          </p:cNvSpPr>
          <p:nvPr/>
        </p:nvSpPr>
        <p:spPr>
          <a:xfrm>
            <a:off x="8610600" y="16573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token熵衡量下一词预测的不确定性</a:t>
            </a:r>
          </a:p>
        </p:txBody>
      </p:sp>
      <p:sp>
        <p:nvSpPr>
          <p:cNvPr id="6" name="统计每个生成位置的下一token分布。低熵表示概率集中，高熵表示多个可能"/>
          <p:cNvSpPr>
            <a:spLocks noGrp="1"/>
          </p:cNvSpPr>
          <p:nvPr/>
        </p:nvSpPr>
        <p:spPr>
          <a:xfrm>
            <a:off x="8610600" y="2133600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统计每个生成位置的下一token分布</a:t>
            </a:r>
            <a:r>
              <a:rPr lang="en-US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低熵表示概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率集中，高熵表示多个可能输出仍被保留。</a:t>
            </a:r>
          </a:p>
        </p:txBody>
      </p:sp>
      <p:sp>
        <p:nvSpPr>
          <p:cNvPr id="7" name="示例中R1熵下降，T1熵上升"/>
          <p:cNvSpPr>
            <a:spLocks noGrp="1"/>
          </p:cNvSpPr>
          <p:nvPr/>
        </p:nvSpPr>
        <p:spPr>
          <a:xfrm>
            <a:off x="8610600" y="3520059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示例中R1熵下降，T1熵上升</a:t>
            </a:r>
          </a:p>
        </p:txBody>
      </p:sp>
      <p:sp>
        <p:nvSpPr>
          <p:cNvPr id="8" name="R1经SFT后均值由0.673降至0.483；T1经RL后由0.878升"/>
          <p:cNvSpPr>
            <a:spLocks noGrp="1"/>
          </p:cNvSpPr>
          <p:nvPr/>
        </p:nvSpPr>
        <p:spPr>
          <a:xfrm>
            <a:off x="8610600" y="3996309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R1经SFT后均值由0.673降至0.483；T1经RL后由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0.878升至0.974，符合作者提出的角色差异。</a:t>
            </a:r>
          </a:p>
        </p:txBody>
      </p:sp>
      <p:sp>
        <p:nvSpPr>
          <p:cNvPr id="9" name="单条轨迹不能证明双模型结构必需"/>
          <p:cNvSpPr>
            <a:spLocks noGrp="1"/>
          </p:cNvSpPr>
          <p:nvPr/>
        </p:nvSpPr>
        <p:spPr>
          <a:xfrm>
            <a:off x="8610600" y="5382768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单条轨迹不能证明双模型结构必需</a:t>
            </a:r>
          </a:p>
        </p:txBody>
      </p:sp>
      <p:sp>
        <p:nvSpPr>
          <p:cNvPr id="10" name="不同基座与训练方法同时变化。低熵可能自信地答错，高熵也可能只是犹豫，尚不"/>
          <p:cNvSpPr>
            <a:spLocks noGrp="1"/>
          </p:cNvSpPr>
          <p:nvPr/>
        </p:nvSpPr>
        <p:spPr>
          <a:xfrm>
            <a:off x="8610600" y="5859018"/>
            <a:ext cx="6000750" cy="1132332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不同基座与训练方法同时变化。低熵可能自信地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答错，高熵也可能只是犹豫，不能</a:t>
            </a:r>
            <a:r>
              <a:rPr lang="zh-CN"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完全</a:t>
            </a: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证明双模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型必需。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输出熵提供行为线索，不能独立证明分工必要性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输出熵提供行为线索，不能独立证明分工必要性。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闭环案例展示检索失败与表示异常后的执行方案调整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闭环案例展示检索失败与表示异常后的执行方案调整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256" y="1619250"/>
            <a:ext cx="11178438" cy="2714625"/>
          </a:xfrm>
          <a:prstGeom prst="rect">
            <a:avLst/>
          </a:prstGeom>
        </p:spPr>
      </p:pic>
      <p:sp>
        <p:nvSpPr>
          <p:cNvPr id="5" name="检索缺失后改用结构生成工具"/>
          <p:cNvSpPr>
            <a:spLocks noGrp="1"/>
          </p:cNvSpPr>
          <p:nvPr/>
        </p:nvSpPr>
        <p:spPr>
          <a:xfrm>
            <a:off x="609600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检索缺失后改用结构生成工具</a:t>
            </a:r>
          </a:p>
        </p:txBody>
      </p:sp>
      <p:sp>
        <p:nvSpPr>
          <p:cNvPr id="6" name="先查询数据库，未找到结构后调用生成工具。系统区分“已知记录”和“生成候选"/>
          <p:cNvSpPr>
            <a:spLocks noGrp="1"/>
          </p:cNvSpPr>
          <p:nvPr/>
        </p:nvSpPr>
        <p:spPr>
          <a:xfrm>
            <a:off x="609600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先查询数据库，未找到结构后调用生成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工具。系统区分“已知记录”和“生成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候选”，不把后者当事实。</a:t>
            </a:r>
          </a:p>
        </p:txBody>
      </p:sp>
      <p:sp>
        <p:nvSpPr>
          <p:cNvPr id="7" name="混合占位触发表示修正与重新执行"/>
          <p:cNvSpPr>
            <a:spLocks noGrp="1"/>
          </p:cNvSpPr>
          <p:nvPr/>
        </p:nvSpPr>
        <p:spPr>
          <a:xfrm>
            <a:off x="5400675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混合占位触发表示修正与重新执行</a:t>
            </a:r>
          </a:p>
        </p:txBody>
      </p:sp>
      <p:sp>
        <p:nvSpPr>
          <p:cNvPr id="8" name="某材料含混合占位，即同一位置可能由不同元素按比例占据。分析模型提出表示修"/>
          <p:cNvSpPr>
            <a:spLocks noGrp="1"/>
          </p:cNvSpPr>
          <p:nvPr/>
        </p:nvSpPr>
        <p:spPr>
          <a:xfrm>
            <a:off x="5400675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某材料含混合占位，即同一位置可能由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不同元素按比例占据。分析模型提出表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示修正，执行模型落实。</a:t>
            </a:r>
          </a:p>
        </p:txBody>
      </p:sp>
      <p:sp>
        <p:nvSpPr>
          <p:cNvPr id="9" name="案例支持可行性，批量收益仍待验证"/>
          <p:cNvSpPr>
            <a:spLocks noGrp="1"/>
          </p:cNvSpPr>
          <p:nvPr/>
        </p:nvSpPr>
        <p:spPr>
          <a:xfrm>
            <a:off x="10191750" y="4600575"/>
            <a:ext cx="4467225" cy="7239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案例支持可行性，批量收益仍待验证</a:t>
            </a:r>
          </a:p>
        </p:txBody>
      </p:sp>
      <p:sp>
        <p:nvSpPr>
          <p:cNvPr id="10" name="展示错误反馈触发诊断与再规划。它是工作流可行性证据，不能替代大样本成功率"/>
          <p:cNvSpPr>
            <a:spLocks noGrp="1"/>
          </p:cNvSpPr>
          <p:nvPr/>
        </p:nvSpPr>
        <p:spPr>
          <a:xfrm>
            <a:off x="10191750" y="5410200"/>
            <a:ext cx="4467225" cy="16954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展示错误反馈触发诊断与再规划。它是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工作流可行性证据，不能替代大样本成</a:t>
            </a:r>
          </a:p>
          <a:p>
            <a:pPr>
              <a:def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功率与单模型对照。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错误反馈可以触发诊断与再规划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错误反馈可以触发诊断与再规划。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tBrain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2" name="应用演示：组织多阶段筛选，物理验证简述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应用：组织多阶段筛选，物理验证简述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345" y="1695450"/>
            <a:ext cx="5341085" cy="5381625"/>
          </a:xfrm>
          <a:prstGeom prst="rect">
            <a:avLst/>
          </a:prstGeom>
        </p:spPr>
      </p:pic>
      <p:sp>
        <p:nvSpPr>
          <p:cNvPr id="5" name="多阶段筛选保留38个未检索到的候选"/>
          <p:cNvSpPr>
            <a:spLocks noGrp="1"/>
          </p:cNvSpPr>
          <p:nvPr/>
        </p:nvSpPr>
        <p:spPr>
          <a:xfrm>
            <a:off x="8610600" y="16573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多阶段筛选保留38个未检索到的候选</a:t>
            </a:r>
          </a:p>
        </p:txBody>
      </p:sp>
      <p:sp>
        <p:nvSpPr>
          <p:cNvPr id="6" name="生成30,000个结构，依次检查组成、重复、几何和稳定性，最终保留38个"/>
          <p:cNvSpPr>
            <a:spLocks noGrp="1"/>
          </p:cNvSpPr>
          <p:nvPr/>
        </p:nvSpPr>
        <p:spPr>
          <a:xfrm>
            <a:off x="8610600" y="2133600"/>
            <a:ext cx="6000750" cy="1132332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生成30,000个结构，依次检查组成、重复、几何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和稳定性，最终保留38个数据库中未检索到的候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选。</a:t>
            </a:r>
          </a:p>
        </p:txBody>
      </p:sp>
      <p:sp>
        <p:nvSpPr>
          <p:cNvPr id="7" name="工具步骤连接为有约束的长流程"/>
          <p:cNvSpPr>
            <a:spLocks noGrp="1"/>
          </p:cNvSpPr>
          <p:nvPr/>
        </p:nvSpPr>
        <p:spPr>
          <a:xfrm>
            <a:off x="8610600" y="3696081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工具步骤连接为有约束的长流程</a:t>
            </a:r>
          </a:p>
        </p:txBody>
      </p:sp>
      <p:sp>
        <p:nvSpPr>
          <p:cNvPr id="8" name="长流程由多个有约束的工具步骤组成。作者报告48小时完成，但缺少相同资源的"/>
          <p:cNvSpPr>
            <a:spLocks noGrp="1"/>
          </p:cNvSpPr>
          <p:nvPr/>
        </p:nvSpPr>
        <p:spPr>
          <a:xfrm>
            <a:off x="8610600" y="4172331"/>
            <a:ext cx="6000750" cy="780288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长流程由多个有约束的工具步骤组成。作者报告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48小时完成，但缺少相同资源的严格速度对照。</a:t>
            </a:r>
          </a:p>
        </p:txBody>
      </p:sp>
      <p:sp>
        <p:nvSpPr>
          <p:cNvPr id="9" name="人工选择候选完成实际实验验证"/>
          <p:cNvSpPr>
            <a:spLocks noGrp="1"/>
          </p:cNvSpPr>
          <p:nvPr/>
        </p:nvSpPr>
        <p:spPr>
          <a:xfrm>
            <a:off x="8610600" y="5382768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人工选择候选完成实际实验验证</a:t>
            </a:r>
          </a:p>
        </p:txBody>
      </p:sp>
      <p:sp>
        <p:nvSpPr>
          <p:cNvPr id="10" name="研究者选择一个候选进行合成、表征与性能测试。它说明流程能连接实际实验，不"/>
          <p:cNvSpPr>
            <a:spLocks noGrp="1"/>
          </p:cNvSpPr>
          <p:nvPr/>
        </p:nvSpPr>
        <p:spPr>
          <a:xfrm>
            <a:off x="8610600" y="5859018"/>
            <a:ext cx="6000750" cy="1132332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研究者选择一个候选进行合成、表征与性能测试。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它说明流程能连接实际实验，不证明双模型结构</a:t>
            </a:r>
          </a:p>
          <a:p>
            <a:pPr>
              <a:def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本身的因果收益。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7429500"/>
            <a:ext cx="14020800" cy="628650"/>
          </a:xfrm>
          <a:prstGeom prst="rect">
            <a:avLst/>
          </a:prstGeom>
          <a:solidFill>
            <a:srgbClr val="EAF5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7429500"/>
            <a:ext cx="47625" cy="62865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sp>
        <p:nvSpPr>
          <p:cNvPr id="13" name="应用案例验证流程可行性，架构收益仍需受控实验。"/>
          <p:cNvSpPr>
            <a:spLocks noGrp="1"/>
          </p:cNvSpPr>
          <p:nvPr/>
        </p:nvSpPr>
        <p:spPr>
          <a:xfrm>
            <a:off x="838200" y="7524750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应用案例验证流程可行性，架构收益仍需受控实验。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参考资料"/>
          <p:cNvSpPr>
            <a:spLocks noGrp="1"/>
          </p:cNvSpPr>
          <p:nvPr/>
        </p:nvSpPr>
        <p:spPr>
          <a:xfrm>
            <a:off x="609600" y="142875"/>
            <a:ext cx="13906500" cy="3048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1800" b="0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2" name="两篇论文的核心贡献与研究范围"/>
          <p:cNvSpPr>
            <a:spLocks noGrp="1"/>
          </p:cNvSpPr>
          <p:nvPr/>
        </p:nvSpPr>
        <p:spPr>
          <a:xfrm>
            <a:off x="609600" y="504825"/>
            <a:ext cx="14020800" cy="6477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两篇论文的核心贡献与研究范围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04925"/>
            <a:ext cx="14020800" cy="285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496578"/>
            <a:ext cx="3333750" cy="47128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25" y="2496578"/>
            <a:ext cx="3333750" cy="4712819"/>
          </a:xfrm>
          <a:prstGeom prst="rect">
            <a:avLst/>
          </a:prstGeom>
        </p:spPr>
      </p:pic>
      <p:sp>
        <p:nvSpPr>
          <p:cNvPr id="6" name="MASTER"/>
          <p:cNvSpPr>
            <a:spLocks noGrp="1"/>
          </p:cNvSpPr>
          <p:nvPr/>
        </p:nvSpPr>
        <p:spPr>
          <a:xfrm>
            <a:off x="4286250" y="2371725"/>
            <a:ext cx="3190875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5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5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MASTER</a:t>
            </a:r>
          </a:p>
        </p:txBody>
      </p:sp>
      <p:sp>
        <p:nvSpPr>
          <p:cNvPr id="7" name="Rothfarb 等，2025&#10;受控材料搜索中的层级决策&#10;&#10;同一基础模型"/>
          <p:cNvSpPr>
            <a:spLocks noGrp="1"/>
          </p:cNvSpPr>
          <p:nvPr/>
        </p:nvSpPr>
        <p:spPr>
          <a:xfrm>
            <a:off x="4286250" y="3095625"/>
            <a:ext cx="3048000" cy="35718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Rothfarb 等，2025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受控材料搜索中的层级决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>
            <a:endParaRPr sz="2025"/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同一基础模型比较四种架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构，分析搜索效率、首轮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收益与候选选择行为。</a:t>
            </a:r>
          </a:p>
        </p:txBody>
      </p:sp>
      <p:sp>
        <p:nvSpPr>
          <p:cNvPr id="8" name="MatBrain"/>
          <p:cNvSpPr>
            <a:spLocks noGrp="1"/>
          </p:cNvSpPr>
          <p:nvPr/>
        </p:nvSpPr>
        <p:spPr>
          <a:xfrm>
            <a:off x="11620500" y="2371725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5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5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8C"/>
                </a:solidFill>
                <a:latin typeface="微软雅黑"/>
                <a:ea typeface="微软雅黑"/>
                <a:cs typeface="微软雅黑"/>
              </a:rPr>
              <a:t>MatBrain</a:t>
            </a:r>
          </a:p>
        </p:txBody>
      </p:sp>
      <p:sp>
        <p:nvSpPr>
          <p:cNvPr id="9" name="Shi 等，2026&#10;领域分析与工具执行的协作&#10;&#10;通过不同训练目标构建两"/>
          <p:cNvSpPr>
            <a:spLocks noGrp="1"/>
          </p:cNvSpPr>
          <p:nvPr/>
        </p:nvSpPr>
        <p:spPr>
          <a:xfrm>
            <a:off x="11620500" y="3095625"/>
            <a:ext cx="2952750" cy="3571875"/>
          </a:xfrm>
          <a:prstGeom prst="rect">
            <a:avLst/>
          </a:prstGeom>
          <a:noFill/>
          <a:ln w="0">
            <a:noFill/>
          </a:ln>
        </p:spPr>
        <p:txBody>
          <a:bodyPr wrap="none" anchor="ctr"/>
          <a:lstStyle>
            <a:def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Shi 等，2026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领域分析与工具执行的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协作</a:t>
            </a:r>
          </a:p>
          <a:p>
            <a:endParaRPr sz="2025"/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通过不同训练目标构建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两个模型，检验模块效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果、组合收益与闭环执</a:t>
            </a:r>
          </a:p>
          <a:p>
            <a:pPr>
              <a:def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22C49"/>
                </a:solidFill>
                <a:latin typeface="微软雅黑"/>
                <a:ea typeface="微软雅黑"/>
                <a:cs typeface="微软雅黑"/>
              </a:rPr>
              <a:t>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2550</Words>
  <Application>Microsoft Macintosh PowerPoint</Application>
  <PresentationFormat>自定义</PresentationFormat>
  <Paragraphs>514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7" baseType="lpstr">
      <vt:lpstr>Microsoft YaHei</vt:lpstr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慧波 刘</cp:lastModifiedBy>
  <cp:revision>60</cp:revision>
  <dcterms:created xsi:type="dcterms:W3CDTF">2026-10-13T04:43:08Z</dcterms:created>
  <dcterms:modified xsi:type="dcterms:W3CDTF">2026-10-14T02:26:17Z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3BFCBF3F5C058186C38ECB6AC037CD4B_42</vt:lpwstr>
  </property>
  <property fmtid="{D5CDD505-2E9C-101B-9397-08002B2CF9AE}" pid="3" name="KSOProductBuildVer">
    <vt:lpwstr>2052-6.15.1.8935</vt:lpwstr>
  </property>
</Properties>
</file>